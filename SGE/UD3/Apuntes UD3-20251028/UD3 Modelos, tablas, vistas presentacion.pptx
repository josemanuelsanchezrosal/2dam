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3" r:id="rId4"/>
  </p:sldMasterIdLst>
  <p:notesMasterIdLst>
    <p:notesMasterId r:id="rId39"/>
  </p:notesMasterIdLst>
  <p:handoutMasterIdLst>
    <p:handoutMasterId r:id="rId40"/>
  </p:handoutMasterIdLst>
  <p:sldIdLst>
    <p:sldId id="256"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302" r:id="rId36"/>
    <p:sldId id="303" r:id="rId37"/>
    <p:sldId id="304"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notesViewPr>
    <p:cSldViewPr snapToGrid="0">
      <p:cViewPr varScale="1">
        <p:scale>
          <a:sx n="88" d="100"/>
          <a:sy n="88" d="100"/>
        </p:scale>
        <p:origin x="306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632A2767-FEC0-45D8-A250-3A0CECEC10E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A3D87BEA-720A-4B01-983C-6493C00177B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103905C-7F1E-4EB1-83CB-22633D84A613}" type="datetime1">
              <a:rPr lang="es-ES" smtClean="0"/>
              <a:t>26/11/2024</a:t>
            </a:fld>
            <a:endParaRPr lang="es-ES"/>
          </a:p>
        </p:txBody>
      </p:sp>
      <p:sp>
        <p:nvSpPr>
          <p:cNvPr id="4" name="Marcador de pie de página 3">
            <a:extLst>
              <a:ext uri="{FF2B5EF4-FFF2-40B4-BE49-F238E27FC236}">
                <a16:creationId xmlns:a16="http://schemas.microsoft.com/office/drawing/2014/main" id="{8D7F7142-7B6D-4E82-A762-17951F1395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47AA5D6A-4E5C-4EA7-A13B-15A02BB533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88A98BC-2DB8-47A3-A77F-B9E32C266238}" type="slidenum">
              <a:rPr lang="es-ES" smtClean="0"/>
              <a:t>‹Nº›</a:t>
            </a:fld>
            <a:endParaRPr lang="es-ES"/>
          </a:p>
        </p:txBody>
      </p:sp>
    </p:spTree>
    <p:extLst>
      <p:ext uri="{BB962C8B-B14F-4D97-AF65-F5344CB8AC3E}">
        <p14:creationId xmlns:p14="http://schemas.microsoft.com/office/powerpoint/2010/main" val="284568433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60346C4A-AC5D-41C9-92CB-B29B3A4C2452}" type="datetime1">
              <a:rPr lang="es-ES" noProof="0" smtClean="0"/>
              <a:t>26/11/2024</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9BB1A04-13E8-48CD-97F9-AC2568E1A8D4}" type="slidenum">
              <a:rPr lang="es-ES" noProof="0" smtClean="0"/>
              <a:t>‹Nº›</a:t>
            </a:fld>
            <a:endParaRPr lang="es-ES" noProof="0"/>
          </a:p>
        </p:txBody>
      </p:sp>
    </p:spTree>
    <p:extLst>
      <p:ext uri="{BB962C8B-B14F-4D97-AF65-F5344CB8AC3E}">
        <p14:creationId xmlns:p14="http://schemas.microsoft.com/office/powerpoint/2010/main" val="257699969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69BB1A04-13E8-48CD-97F9-AC2568E1A8D4}" type="slidenum">
              <a:rPr lang="es-ES" smtClean="0"/>
              <a:t>1</a:t>
            </a:fld>
            <a:endParaRPr lang="es-ES"/>
          </a:p>
        </p:txBody>
      </p:sp>
    </p:spTree>
    <p:extLst>
      <p:ext uri="{BB962C8B-B14F-4D97-AF65-F5344CB8AC3E}">
        <p14:creationId xmlns:p14="http://schemas.microsoft.com/office/powerpoint/2010/main" val="3264305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pPr rtl="0"/>
            <a:fld id="{5FAB3AFB-596D-4F4F-A0E2-7212CED41EAA}" type="datetime1">
              <a:rPr lang="es-ES" noProof="0" smtClean="0"/>
              <a:t>26/11/2024</a:t>
            </a:fld>
            <a:endParaRPr lang="es-ES" noProof="0"/>
          </a:p>
        </p:txBody>
      </p:sp>
      <p:sp>
        <p:nvSpPr>
          <p:cNvPr id="5" name="Footer Placeholder 4"/>
          <p:cNvSpPr>
            <a:spLocks noGrp="1"/>
          </p:cNvSpPr>
          <p:nvPr>
            <p:ph type="ftr" sz="quarter" idx="11"/>
          </p:nvPr>
        </p:nvSpPr>
        <p:spPr/>
        <p:txBody>
          <a:bodyPr/>
          <a:lstStyle/>
          <a:p>
            <a:pPr rtl="0"/>
            <a:endParaRPr lang="es-ES" noProof="0"/>
          </a:p>
        </p:txBody>
      </p:sp>
      <p:sp>
        <p:nvSpPr>
          <p:cNvPr id="6" name="Slide Number Placeholder 5"/>
          <p:cNvSpPr>
            <a:spLocks noGrp="1"/>
          </p:cNvSpPr>
          <p:nvPr>
            <p:ph type="sldNum" sz="quarter" idx="12"/>
          </p:nvPr>
        </p:nvSpPr>
        <p:spPr/>
        <p:txBody>
          <a:bodyPr/>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2485551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fld id="{488C9AE0-7697-42F1-BDB3-E906F6B6BC3D}" type="datetime1">
              <a:rPr lang="es-ES" noProof="0" smtClean="0"/>
              <a:t>26/11/2024</a:t>
            </a:fld>
            <a:endParaRPr lang="es-ES" noProof="0"/>
          </a:p>
        </p:txBody>
      </p:sp>
      <p:sp>
        <p:nvSpPr>
          <p:cNvPr id="5" name="Footer Placeholder 4"/>
          <p:cNvSpPr>
            <a:spLocks noGrp="1"/>
          </p:cNvSpPr>
          <p:nvPr>
            <p:ph type="ftr" sz="quarter" idx="11"/>
          </p:nvPr>
        </p:nvSpPr>
        <p:spPr/>
        <p:txBody>
          <a:bodyPr/>
          <a:lstStyle/>
          <a:p>
            <a:pPr rtl="0"/>
            <a:endParaRPr lang="es-ES" noProof="0"/>
          </a:p>
        </p:txBody>
      </p:sp>
      <p:sp>
        <p:nvSpPr>
          <p:cNvPr id="6" name="Slide Number Placeholder 5"/>
          <p:cNvSpPr>
            <a:spLocks noGrp="1"/>
          </p:cNvSpPr>
          <p:nvPr>
            <p:ph type="sldNum" sz="quarter" idx="12"/>
          </p:nvPr>
        </p:nvSpPr>
        <p:spPr/>
        <p:txBody>
          <a:bodyPr/>
          <a:lstStyle/>
          <a:p>
            <a:pPr rtl="0"/>
            <a:fld id="{6D22F896-40B5-4ADD-8801-0D06FADFA095}" type="slidenum">
              <a:rPr lang="es-ES" noProof="0" smtClean="0"/>
              <a:pPr rtl="0"/>
              <a:t>‹Nº›</a:t>
            </a:fld>
            <a:endParaRPr lang="es-ES" noProof="0"/>
          </a:p>
        </p:txBody>
      </p:sp>
    </p:spTree>
    <p:extLst>
      <p:ext uri="{BB962C8B-B14F-4D97-AF65-F5344CB8AC3E}">
        <p14:creationId xmlns:p14="http://schemas.microsoft.com/office/powerpoint/2010/main" val="297003127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rtl="0"/>
            <a:fld id="{488C9AE0-7697-42F1-BDB3-E906F6B6BC3D}" type="datetime1">
              <a:rPr lang="es-ES" noProof="0" smtClean="0"/>
              <a:t>26/11/2024</a:t>
            </a:fld>
            <a:endParaRPr lang="es-ES" noProof="0"/>
          </a:p>
        </p:txBody>
      </p:sp>
      <p:sp>
        <p:nvSpPr>
          <p:cNvPr id="5" name="Footer Placeholder 4"/>
          <p:cNvSpPr>
            <a:spLocks noGrp="1"/>
          </p:cNvSpPr>
          <p:nvPr>
            <p:ph type="ftr" sz="quarter" idx="11"/>
          </p:nvPr>
        </p:nvSpPr>
        <p:spPr/>
        <p:txBody>
          <a:bodyPr/>
          <a:lstStyle/>
          <a:p>
            <a:pPr rtl="0"/>
            <a:endParaRPr lang="es-ES" noProof="0"/>
          </a:p>
        </p:txBody>
      </p:sp>
      <p:sp>
        <p:nvSpPr>
          <p:cNvPr id="6" name="Slide Number Placeholder 5"/>
          <p:cNvSpPr>
            <a:spLocks noGrp="1"/>
          </p:cNvSpPr>
          <p:nvPr>
            <p:ph type="sldNum" sz="quarter" idx="12"/>
          </p:nvPr>
        </p:nvSpPr>
        <p:spPr/>
        <p:txBody>
          <a:bodyPr/>
          <a:lstStyle/>
          <a:p>
            <a:pPr rtl="0"/>
            <a:fld id="{6D22F896-40B5-4ADD-8801-0D06FADFA095}" type="slidenum">
              <a:rPr lang="es-ES" noProof="0" smtClean="0"/>
              <a:pPr rtl="0"/>
              <a:t>‹Nº›</a:t>
            </a:fld>
            <a:endParaRPr lang="es-ES" noProof="0"/>
          </a:p>
        </p:txBody>
      </p:sp>
    </p:spTree>
    <p:extLst>
      <p:ext uri="{BB962C8B-B14F-4D97-AF65-F5344CB8AC3E}">
        <p14:creationId xmlns:p14="http://schemas.microsoft.com/office/powerpoint/2010/main" val="18070777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pPr rtl="0"/>
            <a:fld id="{488C9AE0-7697-42F1-BDB3-E906F6B6BC3D}" type="datetime1">
              <a:rPr lang="es-ES" noProof="0" smtClean="0"/>
              <a:t>26/11/2024</a:t>
            </a:fld>
            <a:endParaRPr lang="es-ES" noProof="0"/>
          </a:p>
        </p:txBody>
      </p:sp>
      <p:sp>
        <p:nvSpPr>
          <p:cNvPr id="6" name="Footer Placeholder 5"/>
          <p:cNvSpPr>
            <a:spLocks noGrp="1"/>
          </p:cNvSpPr>
          <p:nvPr>
            <p:ph type="ftr" sz="quarter" idx="11"/>
          </p:nvPr>
        </p:nvSpPr>
        <p:spPr/>
        <p:txBody>
          <a:bodyPr/>
          <a:lstStyle/>
          <a:p>
            <a:pPr rtl="0"/>
            <a:endParaRPr lang="es-ES" noProof="0"/>
          </a:p>
        </p:txBody>
      </p:sp>
      <p:sp>
        <p:nvSpPr>
          <p:cNvPr id="7" name="Slide Number Placeholder 6"/>
          <p:cNvSpPr>
            <a:spLocks noGrp="1"/>
          </p:cNvSpPr>
          <p:nvPr>
            <p:ph type="sldNum" sz="quarter" idx="12"/>
          </p:nvPr>
        </p:nvSpPr>
        <p:spPr/>
        <p:txBody>
          <a:bodyPr/>
          <a:lstStyle/>
          <a:p>
            <a:pPr rtl="0"/>
            <a:fld id="{6D22F896-40B5-4ADD-8801-0D06FADFA095}" type="slidenum">
              <a:rPr lang="es-ES" noProof="0" smtClean="0"/>
              <a:pPr rtl="0"/>
              <a:t>‹Nº›</a:t>
            </a:fld>
            <a:endParaRPr lang="es-ES" noProof="0"/>
          </a:p>
        </p:txBody>
      </p:sp>
    </p:spTree>
    <p:extLst>
      <p:ext uri="{BB962C8B-B14F-4D97-AF65-F5344CB8AC3E}">
        <p14:creationId xmlns:p14="http://schemas.microsoft.com/office/powerpoint/2010/main" val="110184177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pPr rtl="0"/>
            <a:fld id="{488C9AE0-7697-42F1-BDB3-E906F6B6BC3D}" type="datetime1">
              <a:rPr lang="es-ES" noProof="0" smtClean="0"/>
              <a:t>26/11/2024</a:t>
            </a:fld>
            <a:endParaRPr lang="es-ES" noProof="0"/>
          </a:p>
        </p:txBody>
      </p:sp>
      <p:sp>
        <p:nvSpPr>
          <p:cNvPr id="8" name="Footer Placeholder 7"/>
          <p:cNvSpPr>
            <a:spLocks noGrp="1"/>
          </p:cNvSpPr>
          <p:nvPr>
            <p:ph type="ftr" sz="quarter" idx="11"/>
          </p:nvPr>
        </p:nvSpPr>
        <p:spPr/>
        <p:txBody>
          <a:bodyPr/>
          <a:lstStyle/>
          <a:p>
            <a:pPr rtl="0"/>
            <a:endParaRPr lang="es-ES" noProof="0"/>
          </a:p>
        </p:txBody>
      </p:sp>
      <p:sp>
        <p:nvSpPr>
          <p:cNvPr id="9" name="Slide Number Placeholder 8"/>
          <p:cNvSpPr>
            <a:spLocks noGrp="1"/>
          </p:cNvSpPr>
          <p:nvPr>
            <p:ph type="sldNum" sz="quarter" idx="12"/>
          </p:nvPr>
        </p:nvSpPr>
        <p:spPr/>
        <p:txBody>
          <a:bodyPr/>
          <a:lstStyle/>
          <a:p>
            <a:pPr rtl="0"/>
            <a:fld id="{6D22F896-40B5-4ADD-8801-0D06FADFA095}" type="slidenum">
              <a:rPr lang="es-ES" noProof="0" smtClean="0"/>
              <a:pPr rtl="0"/>
              <a:t>‹Nº›</a:t>
            </a:fld>
            <a:endParaRPr lang="es-ES" noProof="0"/>
          </a:p>
        </p:txBody>
      </p:sp>
    </p:spTree>
    <p:extLst>
      <p:ext uri="{BB962C8B-B14F-4D97-AF65-F5344CB8AC3E}">
        <p14:creationId xmlns:p14="http://schemas.microsoft.com/office/powerpoint/2010/main" val="231774342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pPr rtl="0"/>
            <a:fld id="{E7A92E7A-A1BE-4084-9173-FB68E0343787}" type="datetime1">
              <a:rPr lang="es-ES" noProof="0" smtClean="0"/>
              <a:t>26/11/2024</a:t>
            </a:fld>
            <a:endParaRPr lang="es-ES" noProof="0"/>
          </a:p>
        </p:txBody>
      </p:sp>
      <p:sp>
        <p:nvSpPr>
          <p:cNvPr id="4" name="Footer Placeholder 3"/>
          <p:cNvSpPr>
            <a:spLocks noGrp="1"/>
          </p:cNvSpPr>
          <p:nvPr>
            <p:ph type="ftr" sz="quarter" idx="11"/>
          </p:nvPr>
        </p:nvSpPr>
        <p:spPr/>
        <p:txBody>
          <a:bodyPr/>
          <a:lstStyle/>
          <a:p>
            <a:pPr rtl="0"/>
            <a:endParaRPr lang="es-ES" noProof="0"/>
          </a:p>
        </p:txBody>
      </p:sp>
      <p:sp>
        <p:nvSpPr>
          <p:cNvPr id="5" name="Slide Number Placeholder 4"/>
          <p:cNvSpPr>
            <a:spLocks noGrp="1"/>
          </p:cNvSpPr>
          <p:nvPr>
            <p:ph type="sldNum" sz="quarter" idx="12"/>
          </p:nvPr>
        </p:nvSpPr>
        <p:spPr/>
        <p:txBody>
          <a:bodyPr/>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3992615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rtl="0"/>
            <a:fld id="{4DC869D9-8F35-4CA4-AA4D-335F53E8E2A4}" type="datetime1">
              <a:rPr lang="es-ES" noProof="0" smtClean="0"/>
              <a:t>26/11/2024</a:t>
            </a:fld>
            <a:endParaRPr lang="es-ES" noProof="0"/>
          </a:p>
        </p:txBody>
      </p:sp>
      <p:sp>
        <p:nvSpPr>
          <p:cNvPr id="3" name="Footer Placeholder 2"/>
          <p:cNvSpPr>
            <a:spLocks noGrp="1"/>
          </p:cNvSpPr>
          <p:nvPr>
            <p:ph type="ftr" sz="quarter" idx="11"/>
          </p:nvPr>
        </p:nvSpPr>
        <p:spPr/>
        <p:txBody>
          <a:bodyPr/>
          <a:lstStyle/>
          <a:p>
            <a:pPr rtl="0"/>
            <a:endParaRPr lang="es-ES" noProof="0"/>
          </a:p>
        </p:txBody>
      </p:sp>
      <p:sp>
        <p:nvSpPr>
          <p:cNvPr id="4" name="Slide Number Placeholder 3"/>
          <p:cNvSpPr>
            <a:spLocks noGrp="1"/>
          </p:cNvSpPr>
          <p:nvPr>
            <p:ph type="sldNum" sz="quarter" idx="12"/>
          </p:nvPr>
        </p:nvSpPr>
        <p:spPr/>
        <p:txBody>
          <a:bodyPr/>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196061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rtl="0"/>
            <a:fld id="{47371BB9-9019-4266-B397-95F1F492E6C9}" type="datetime1">
              <a:rPr lang="es-ES" noProof="0" smtClean="0"/>
              <a:t>26/11/2024</a:t>
            </a:fld>
            <a:endParaRPr lang="es-ES" noProof="0"/>
          </a:p>
        </p:txBody>
      </p:sp>
      <p:sp>
        <p:nvSpPr>
          <p:cNvPr id="6" name="Footer Placeholder 5"/>
          <p:cNvSpPr>
            <a:spLocks noGrp="1"/>
          </p:cNvSpPr>
          <p:nvPr>
            <p:ph type="ftr" sz="quarter" idx="11"/>
          </p:nvPr>
        </p:nvSpPr>
        <p:spPr/>
        <p:txBody>
          <a:bodyPr/>
          <a:lstStyle/>
          <a:p>
            <a:pPr rtl="0"/>
            <a:endParaRPr lang="es-ES" noProof="0"/>
          </a:p>
        </p:txBody>
      </p:sp>
      <p:sp>
        <p:nvSpPr>
          <p:cNvPr id="7" name="Slide Number Placeholder 6"/>
          <p:cNvSpPr>
            <a:spLocks noGrp="1"/>
          </p:cNvSpPr>
          <p:nvPr>
            <p:ph type="sldNum" sz="quarter" idx="12"/>
          </p:nvPr>
        </p:nvSpPr>
        <p:spPr/>
        <p:txBody>
          <a:bodyPr/>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4007449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rtl="0"/>
            <a:fld id="{488C9AE0-7697-42F1-BDB3-E906F6B6BC3D}" type="datetime1">
              <a:rPr lang="es-ES" noProof="0" smtClean="0"/>
              <a:t>26/11/2024</a:t>
            </a:fld>
            <a:endParaRPr lang="es-ES" noProof="0"/>
          </a:p>
        </p:txBody>
      </p:sp>
      <p:sp>
        <p:nvSpPr>
          <p:cNvPr id="6" name="Footer Placeholder 5"/>
          <p:cNvSpPr>
            <a:spLocks noGrp="1"/>
          </p:cNvSpPr>
          <p:nvPr>
            <p:ph type="ftr" sz="quarter" idx="11"/>
          </p:nvPr>
        </p:nvSpPr>
        <p:spPr/>
        <p:txBody>
          <a:bodyPr/>
          <a:lstStyle/>
          <a:p>
            <a:pPr rtl="0"/>
            <a:endParaRPr lang="es-ES" noProof="0"/>
          </a:p>
        </p:txBody>
      </p:sp>
      <p:sp>
        <p:nvSpPr>
          <p:cNvPr id="7" name="Slide Number Placeholder 6"/>
          <p:cNvSpPr>
            <a:spLocks noGrp="1"/>
          </p:cNvSpPr>
          <p:nvPr>
            <p:ph type="sldNum" sz="quarter" idx="12"/>
          </p:nvPr>
        </p:nvSpPr>
        <p:spPr/>
        <p:txBody>
          <a:bodyPr/>
          <a:lstStyle/>
          <a:p>
            <a:pPr rtl="0"/>
            <a:fld id="{6D22F896-40B5-4ADD-8801-0D06FADFA095}" type="slidenum">
              <a:rPr lang="es-ES" noProof="0" smtClean="0"/>
              <a:pPr rtl="0"/>
              <a:t>‹Nº›</a:t>
            </a:fld>
            <a:endParaRPr lang="es-ES" noProof="0"/>
          </a:p>
        </p:txBody>
      </p:sp>
    </p:spTree>
    <p:extLst>
      <p:ext uri="{BB962C8B-B14F-4D97-AF65-F5344CB8AC3E}">
        <p14:creationId xmlns:p14="http://schemas.microsoft.com/office/powerpoint/2010/main" val="53390660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rtl="0"/>
            <a:fld id="{488C9AE0-7697-42F1-BDB3-E906F6B6BC3D}" type="datetime1">
              <a:rPr lang="es-ES" noProof="0" smtClean="0"/>
              <a:t>26/11/2024</a:t>
            </a:fld>
            <a:endParaRPr lang="es-ES" noProof="0"/>
          </a:p>
        </p:txBody>
      </p:sp>
      <p:sp>
        <p:nvSpPr>
          <p:cNvPr id="6" name="Footer Placeholder 5"/>
          <p:cNvSpPr>
            <a:spLocks noGrp="1"/>
          </p:cNvSpPr>
          <p:nvPr>
            <p:ph type="ftr" sz="quarter" idx="11"/>
          </p:nvPr>
        </p:nvSpPr>
        <p:spPr/>
        <p:txBody>
          <a:bodyPr/>
          <a:lstStyle/>
          <a:p>
            <a:pPr rtl="0"/>
            <a:endParaRPr lang="es-ES" noProof="0"/>
          </a:p>
        </p:txBody>
      </p:sp>
      <p:sp>
        <p:nvSpPr>
          <p:cNvPr id="7" name="Slide Number Placeholder 6"/>
          <p:cNvSpPr>
            <a:spLocks noGrp="1"/>
          </p:cNvSpPr>
          <p:nvPr>
            <p:ph type="sldNum" sz="quarter" idx="12"/>
          </p:nvPr>
        </p:nvSpPr>
        <p:spPr/>
        <p:txBody>
          <a:bodyPr/>
          <a:lstStyle/>
          <a:p>
            <a:pPr rtl="0"/>
            <a:fld id="{6D22F896-40B5-4ADD-8801-0D06FADFA095}" type="slidenum">
              <a:rPr lang="es-ES" noProof="0" smtClean="0"/>
              <a:pPr rtl="0"/>
              <a:t>‹Nº›</a:t>
            </a:fld>
            <a:endParaRPr lang="es-ES" noProof="0"/>
          </a:p>
        </p:txBody>
      </p:sp>
    </p:spTree>
    <p:extLst>
      <p:ext uri="{BB962C8B-B14F-4D97-AF65-F5344CB8AC3E}">
        <p14:creationId xmlns:p14="http://schemas.microsoft.com/office/powerpoint/2010/main" val="422927459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rtl="0"/>
            <a:fld id="{488C9AE0-7697-42F1-BDB3-E906F6B6BC3D}" type="datetime1">
              <a:rPr lang="es-ES" noProof="0" smtClean="0"/>
              <a:t>26/11/2024</a:t>
            </a:fld>
            <a:endParaRPr lang="es-ES" noProof="0"/>
          </a:p>
        </p:txBody>
      </p:sp>
      <p:sp>
        <p:nvSpPr>
          <p:cNvPr id="6" name="Footer Placeholder 5"/>
          <p:cNvSpPr>
            <a:spLocks noGrp="1"/>
          </p:cNvSpPr>
          <p:nvPr>
            <p:ph type="ftr" sz="quarter" idx="11"/>
          </p:nvPr>
        </p:nvSpPr>
        <p:spPr/>
        <p:txBody>
          <a:bodyPr/>
          <a:lstStyle/>
          <a:p>
            <a:pPr rtl="0"/>
            <a:endParaRPr lang="es-ES" noProof="0"/>
          </a:p>
        </p:txBody>
      </p:sp>
      <p:sp>
        <p:nvSpPr>
          <p:cNvPr id="7" name="Slide Number Placeholder 6"/>
          <p:cNvSpPr>
            <a:spLocks noGrp="1"/>
          </p:cNvSpPr>
          <p:nvPr>
            <p:ph type="sldNum" sz="quarter" idx="12"/>
          </p:nvPr>
        </p:nvSpPr>
        <p:spPr/>
        <p:txBody>
          <a:bodyPr/>
          <a:lstStyle/>
          <a:p>
            <a:pPr rtl="0"/>
            <a:fld id="{6D22F896-40B5-4ADD-8801-0D06FADFA095}" type="slidenum">
              <a:rPr lang="es-ES" noProof="0" smtClean="0"/>
              <a:pPr rtl="0"/>
              <a:t>‹Nº›</a:t>
            </a:fld>
            <a:endParaRPr lang="es-ES" noProof="0"/>
          </a:p>
        </p:txBody>
      </p:sp>
    </p:spTree>
    <p:extLst>
      <p:ext uri="{BB962C8B-B14F-4D97-AF65-F5344CB8AC3E}">
        <p14:creationId xmlns:p14="http://schemas.microsoft.com/office/powerpoint/2010/main" val="68893952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rtl="0"/>
            <a:fld id="{488C9AE0-7697-42F1-BDB3-E906F6B6BC3D}" type="datetime1">
              <a:rPr lang="es-ES" noProof="0" smtClean="0"/>
              <a:t>26/11/2024</a:t>
            </a:fld>
            <a:endParaRPr lang="es-ES" noProof="0"/>
          </a:p>
        </p:txBody>
      </p:sp>
      <p:sp>
        <p:nvSpPr>
          <p:cNvPr id="6" name="Footer Placeholder 5"/>
          <p:cNvSpPr>
            <a:spLocks noGrp="1"/>
          </p:cNvSpPr>
          <p:nvPr>
            <p:ph type="ftr" sz="quarter" idx="11"/>
          </p:nvPr>
        </p:nvSpPr>
        <p:spPr/>
        <p:txBody>
          <a:bodyPr/>
          <a:lstStyle/>
          <a:p>
            <a:pPr rtl="0"/>
            <a:endParaRPr lang="es-ES" noProof="0"/>
          </a:p>
        </p:txBody>
      </p:sp>
      <p:sp>
        <p:nvSpPr>
          <p:cNvPr id="7" name="Slide Number Placeholder 6"/>
          <p:cNvSpPr>
            <a:spLocks noGrp="1"/>
          </p:cNvSpPr>
          <p:nvPr>
            <p:ph type="sldNum" sz="quarter" idx="12"/>
          </p:nvPr>
        </p:nvSpPr>
        <p:spPr/>
        <p:txBody>
          <a:bodyPr/>
          <a:lstStyle/>
          <a:p>
            <a:pPr rtl="0"/>
            <a:fld id="{6D22F896-40B5-4ADD-8801-0D06FADFA095}" type="slidenum">
              <a:rPr lang="es-ES" noProof="0" smtClean="0"/>
              <a:pPr rtl="0"/>
              <a:t>‹Nº›</a:t>
            </a:fld>
            <a:endParaRPr lang="es-ES" noProof="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5407698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rtl="0"/>
            <a:fld id="{488C9AE0-7697-42F1-BDB3-E906F6B6BC3D}" type="datetime1">
              <a:rPr lang="es-ES" noProof="0" smtClean="0"/>
              <a:t>26/11/2024</a:t>
            </a:fld>
            <a:endParaRPr lang="es-ES" noProof="0"/>
          </a:p>
        </p:txBody>
      </p:sp>
      <p:sp>
        <p:nvSpPr>
          <p:cNvPr id="6" name="Footer Placeholder 5"/>
          <p:cNvSpPr>
            <a:spLocks noGrp="1"/>
          </p:cNvSpPr>
          <p:nvPr>
            <p:ph type="ftr" sz="quarter" idx="11"/>
          </p:nvPr>
        </p:nvSpPr>
        <p:spPr/>
        <p:txBody>
          <a:bodyPr/>
          <a:lstStyle/>
          <a:p>
            <a:pPr rtl="0"/>
            <a:endParaRPr lang="es-ES" noProof="0"/>
          </a:p>
        </p:txBody>
      </p:sp>
      <p:sp>
        <p:nvSpPr>
          <p:cNvPr id="7" name="Slide Number Placeholder 6"/>
          <p:cNvSpPr>
            <a:spLocks noGrp="1"/>
          </p:cNvSpPr>
          <p:nvPr>
            <p:ph type="sldNum" sz="quarter" idx="12"/>
          </p:nvPr>
        </p:nvSpPr>
        <p:spPr/>
        <p:txBody>
          <a:bodyPr/>
          <a:lstStyle/>
          <a:p>
            <a:pPr rtl="0"/>
            <a:fld id="{6D22F896-40B5-4ADD-8801-0D06FADFA095}" type="slidenum">
              <a:rPr lang="es-ES" noProof="0" smtClean="0"/>
              <a:pPr rtl="0"/>
              <a:t>‹Nº›</a:t>
            </a:fld>
            <a:endParaRPr lang="es-ES" noProof="0"/>
          </a:p>
        </p:txBody>
      </p:sp>
    </p:spTree>
    <p:extLst>
      <p:ext uri="{BB962C8B-B14F-4D97-AF65-F5344CB8AC3E}">
        <p14:creationId xmlns:p14="http://schemas.microsoft.com/office/powerpoint/2010/main" val="172350692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pPr rtl="0"/>
            <a:fld id="{488C9AE0-7697-42F1-BDB3-E906F6B6BC3D}" type="datetime1">
              <a:rPr lang="es-ES" noProof="0" smtClean="0"/>
              <a:t>26/11/2024</a:t>
            </a:fld>
            <a:endParaRPr lang="es-ES" noProof="0"/>
          </a:p>
        </p:txBody>
      </p:sp>
      <p:sp>
        <p:nvSpPr>
          <p:cNvPr id="4" name="Footer Placeholder 3"/>
          <p:cNvSpPr>
            <a:spLocks noGrp="1"/>
          </p:cNvSpPr>
          <p:nvPr>
            <p:ph type="ftr" sz="quarter" idx="11"/>
          </p:nvPr>
        </p:nvSpPr>
        <p:spPr/>
        <p:txBody>
          <a:bodyPr/>
          <a:lstStyle/>
          <a:p>
            <a:pPr rtl="0"/>
            <a:endParaRPr lang="es-ES" noProof="0"/>
          </a:p>
        </p:txBody>
      </p:sp>
      <p:sp>
        <p:nvSpPr>
          <p:cNvPr id="5" name="Slide Number Placeholder 4"/>
          <p:cNvSpPr>
            <a:spLocks noGrp="1"/>
          </p:cNvSpPr>
          <p:nvPr>
            <p:ph type="sldNum" sz="quarter" idx="12"/>
          </p:nvPr>
        </p:nvSpPr>
        <p:spPr/>
        <p:txBody>
          <a:bodyPr/>
          <a:lstStyle/>
          <a:p>
            <a:pPr rtl="0"/>
            <a:fld id="{6D22F896-40B5-4ADD-8801-0D06FADFA095}" type="slidenum">
              <a:rPr lang="es-ES" noProof="0" smtClean="0"/>
              <a:pPr rtl="0"/>
              <a:t>‹Nº›</a:t>
            </a:fld>
            <a:endParaRPr lang="es-ES" noProof="0"/>
          </a:p>
        </p:txBody>
      </p:sp>
    </p:spTree>
    <p:extLst>
      <p:ext uri="{BB962C8B-B14F-4D97-AF65-F5344CB8AC3E}">
        <p14:creationId xmlns:p14="http://schemas.microsoft.com/office/powerpoint/2010/main" val="271777726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pPr rtl="0"/>
            <a:fld id="{488C9AE0-7697-42F1-BDB3-E906F6B6BC3D}" type="datetime1">
              <a:rPr lang="es-ES" noProof="0" smtClean="0"/>
              <a:t>26/11/2024</a:t>
            </a:fld>
            <a:endParaRPr lang="es-ES" noProof="0"/>
          </a:p>
        </p:txBody>
      </p:sp>
      <p:sp>
        <p:nvSpPr>
          <p:cNvPr id="4" name="Footer Placeholder 3"/>
          <p:cNvSpPr>
            <a:spLocks noGrp="1"/>
          </p:cNvSpPr>
          <p:nvPr>
            <p:ph type="ftr" sz="quarter" idx="11"/>
          </p:nvPr>
        </p:nvSpPr>
        <p:spPr/>
        <p:txBody>
          <a:bodyPr/>
          <a:lstStyle/>
          <a:p>
            <a:pPr rtl="0"/>
            <a:endParaRPr lang="es-ES" noProof="0"/>
          </a:p>
        </p:txBody>
      </p:sp>
      <p:sp>
        <p:nvSpPr>
          <p:cNvPr id="5" name="Slide Number Placeholder 4"/>
          <p:cNvSpPr>
            <a:spLocks noGrp="1"/>
          </p:cNvSpPr>
          <p:nvPr>
            <p:ph type="sldNum" sz="quarter" idx="12"/>
          </p:nvPr>
        </p:nvSpPr>
        <p:spPr/>
        <p:txBody>
          <a:bodyPr/>
          <a:lstStyle/>
          <a:p>
            <a:pPr rtl="0"/>
            <a:fld id="{6D22F896-40B5-4ADD-8801-0D06FADFA095}" type="slidenum">
              <a:rPr lang="es-ES" noProof="0" smtClean="0"/>
              <a:pPr rtl="0"/>
              <a:t>‹Nº›</a:t>
            </a:fld>
            <a:endParaRPr lang="es-ES" noProof="0"/>
          </a:p>
        </p:txBody>
      </p:sp>
    </p:spTree>
    <p:extLst>
      <p:ext uri="{BB962C8B-B14F-4D97-AF65-F5344CB8AC3E}">
        <p14:creationId xmlns:p14="http://schemas.microsoft.com/office/powerpoint/2010/main" val="264091236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fld id="{478BB6CC-FBA9-4725-92DF-D94BEBAC68DB}" type="datetime1">
              <a:rPr lang="es-ES" noProof="0" smtClean="0"/>
              <a:t>26/11/2024</a:t>
            </a:fld>
            <a:endParaRPr lang="es-ES" noProof="0"/>
          </a:p>
        </p:txBody>
      </p:sp>
      <p:sp>
        <p:nvSpPr>
          <p:cNvPr id="5" name="Footer Placeholder 4"/>
          <p:cNvSpPr>
            <a:spLocks noGrp="1"/>
          </p:cNvSpPr>
          <p:nvPr>
            <p:ph type="ftr" sz="quarter" idx="11"/>
          </p:nvPr>
        </p:nvSpPr>
        <p:spPr/>
        <p:txBody>
          <a:bodyPr/>
          <a:lstStyle/>
          <a:p>
            <a:pPr rtl="0"/>
            <a:endParaRPr lang="es-ES" noProof="0"/>
          </a:p>
        </p:txBody>
      </p:sp>
      <p:sp>
        <p:nvSpPr>
          <p:cNvPr id="6" name="Slide Number Placeholder 5"/>
          <p:cNvSpPr>
            <a:spLocks noGrp="1"/>
          </p:cNvSpPr>
          <p:nvPr>
            <p:ph type="sldNum" sz="quarter" idx="12"/>
          </p:nvPr>
        </p:nvSpPr>
        <p:spPr/>
        <p:txBody>
          <a:bodyPr/>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3523758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fld id="{09C64D12-4AF6-4724-970F-9FEBCE25C9B0}" type="datetime1">
              <a:rPr lang="es-ES" noProof="0" smtClean="0"/>
              <a:t>26/11/2024</a:t>
            </a:fld>
            <a:endParaRPr lang="es-ES" noProof="0"/>
          </a:p>
        </p:txBody>
      </p:sp>
      <p:sp>
        <p:nvSpPr>
          <p:cNvPr id="5" name="Footer Placeholder 4"/>
          <p:cNvSpPr>
            <a:spLocks noGrp="1"/>
          </p:cNvSpPr>
          <p:nvPr>
            <p:ph type="ftr" sz="quarter" idx="11"/>
          </p:nvPr>
        </p:nvSpPr>
        <p:spPr/>
        <p:txBody>
          <a:bodyPr/>
          <a:lstStyle/>
          <a:p>
            <a:pPr rtl="0"/>
            <a:endParaRPr lang="es-ES" noProof="0"/>
          </a:p>
        </p:txBody>
      </p:sp>
      <p:sp>
        <p:nvSpPr>
          <p:cNvPr id="6" name="Slide Number Placeholder 5"/>
          <p:cNvSpPr>
            <a:spLocks noGrp="1"/>
          </p:cNvSpPr>
          <p:nvPr>
            <p:ph type="sldNum" sz="quarter" idx="12"/>
          </p:nvPr>
        </p:nvSpPr>
        <p:spPr/>
        <p:txBody>
          <a:bodyPr/>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3120409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rtl="0"/>
            <a:fld id="{488C9AE0-7697-42F1-BDB3-E906F6B6BC3D}" type="datetime1">
              <a:rPr lang="es-ES" noProof="0" smtClean="0"/>
              <a:t>26/11/2024</a:t>
            </a:fld>
            <a:endParaRPr lang="es-ES" noProof="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pPr rtl="0"/>
            <a:endParaRPr lang="es-ES" noProof="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rtl="0"/>
            <a:fld id="{6D22F896-40B5-4ADD-8801-0D06FADFA095}" type="slidenum">
              <a:rPr lang="es-ES" noProof="0" smtClean="0"/>
              <a:pPr rtl="0"/>
              <a:t>‹Nº›</a:t>
            </a:fld>
            <a:endParaRPr lang="es-ES" noProof="0"/>
          </a:p>
        </p:txBody>
      </p:sp>
    </p:spTree>
    <p:extLst>
      <p:ext uri="{BB962C8B-B14F-4D97-AF65-F5344CB8AC3E}">
        <p14:creationId xmlns:p14="http://schemas.microsoft.com/office/powerpoint/2010/main" val="941522115"/>
      </p:ext>
    </p:extLst>
  </p:cSld>
  <p:clrMap bg1="dk1" tx1="lt1" bg2="dk2" tx2="lt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40" r:id="rId17"/>
  </p:sldLayoutIdLst>
  <p:hf sldNum="0" hdr="0" ft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youtube.com/watch?v=5jp_OZfi524"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TLdsFuj30nk"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OZ13f1Wl6BI"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youtube.com/watch?v=UHWJT4PBwlM"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youtube.com/watch?v=k0yVYhaaYTQ"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youtube.com/watch?v=8MJTOqjA9uw"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youtube.com/watch?v=Cit8LH27h1Q"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youtube.com/watch?v=8jmRc0LO15s"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youtube.com/watch?v=lGitgI1bkO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cstate="email">
            <a:duotone>
              <a:schemeClr val="bg2">
                <a:shade val="48000"/>
                <a:hueMod val="106000"/>
                <a:satMod val="140000"/>
                <a:lumMod val="42000"/>
              </a:schemeClr>
              <a:schemeClr val="bg2">
                <a:tint val="98000"/>
                <a:hueMod val="92000"/>
                <a:satMod val="220000"/>
                <a:lumMod val="90000"/>
              </a:schemeClr>
            </a:duotone>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pic>
        <p:nvPicPr>
          <p:cNvPr id="5" name="Imagen 4" descr="Bombilla">
            <a:extLst>
              <a:ext uri="{FF2B5EF4-FFF2-40B4-BE49-F238E27FC236}">
                <a16:creationId xmlns:a16="http://schemas.microsoft.com/office/drawing/2014/main" id="{AC06F95D-BA5D-4DEE-93EF-3FE3173D13FF}"/>
              </a:ext>
            </a:extLst>
          </p:cNvPr>
          <p:cNvPicPr>
            <a:picLocks noChangeAspect="1"/>
          </p:cNvPicPr>
          <p:nvPr/>
        </p:nvPicPr>
        <p:blipFill rotWithShape="1">
          <a:blip r:embed="rId4" cstate="email">
            <a:alphaModFix/>
            <a:extLst>
              <a:ext uri="{28A0092B-C50C-407E-A947-70E740481C1C}">
                <a14:useLocalDpi xmlns:a14="http://schemas.microsoft.com/office/drawing/2010/main"/>
              </a:ext>
            </a:extLst>
          </a:blip>
          <a:srcRect/>
          <a:stretch/>
        </p:blipFill>
        <p:spPr>
          <a:xfrm>
            <a:off x="3611" y="10"/>
            <a:ext cx="12188389" cy="6857990"/>
          </a:xfrm>
          <a:prstGeom prst="rect">
            <a:avLst/>
          </a:prstGeom>
        </p:spPr>
      </p:pic>
      <p:sp>
        <p:nvSpPr>
          <p:cNvPr id="2" name="Título 1">
            <a:extLst>
              <a:ext uri="{FF2B5EF4-FFF2-40B4-BE49-F238E27FC236}">
                <a16:creationId xmlns:a16="http://schemas.microsoft.com/office/drawing/2014/main" id="{4D687081-16D7-4BC5-A7DB-E70117439F85}"/>
              </a:ext>
            </a:extLst>
          </p:cNvPr>
          <p:cNvSpPr>
            <a:spLocks noGrp="1"/>
          </p:cNvSpPr>
          <p:nvPr>
            <p:ph type="ctrTitle"/>
          </p:nvPr>
        </p:nvSpPr>
        <p:spPr>
          <a:xfrm>
            <a:off x="2667000" y="2328334"/>
            <a:ext cx="6858000" cy="1367896"/>
          </a:xfrm>
        </p:spPr>
        <p:txBody>
          <a:bodyPr rtlCol="0" anchor="ctr">
            <a:normAutofit/>
          </a:bodyPr>
          <a:lstStyle/>
          <a:p>
            <a:pPr algn="ctr" rtl="0"/>
            <a:r>
              <a:rPr lang="es-ES" dirty="0"/>
              <a:t>Unidad 3 Modelos </a:t>
            </a:r>
          </a:p>
        </p:txBody>
      </p:sp>
      <p:sp>
        <p:nvSpPr>
          <p:cNvPr id="3" name="Subtítulo 2">
            <a:extLst>
              <a:ext uri="{FF2B5EF4-FFF2-40B4-BE49-F238E27FC236}">
                <a16:creationId xmlns:a16="http://schemas.microsoft.com/office/drawing/2014/main" id="{1841851F-203A-4F8E-AA75-478526ABA894}"/>
              </a:ext>
            </a:extLst>
          </p:cNvPr>
          <p:cNvSpPr>
            <a:spLocks noGrp="1"/>
          </p:cNvSpPr>
          <p:nvPr>
            <p:ph type="subTitle" idx="1"/>
          </p:nvPr>
        </p:nvSpPr>
        <p:spPr>
          <a:xfrm>
            <a:off x="2667001" y="3602038"/>
            <a:ext cx="6857999" cy="953029"/>
          </a:xfrm>
        </p:spPr>
        <p:txBody>
          <a:bodyPr rtlCol="0">
            <a:normAutofit/>
          </a:bodyPr>
          <a:lstStyle/>
          <a:p>
            <a:pPr algn="ctr" rtl="0"/>
            <a:r>
              <a:rPr lang="es-ES" dirty="0"/>
              <a:t>SISTEMAS DE GESTIÓN EMPRESARIAL</a:t>
            </a:r>
          </a:p>
        </p:txBody>
      </p:sp>
    </p:spTree>
    <p:extLst>
      <p:ext uri="{BB962C8B-B14F-4D97-AF65-F5344CB8AC3E}">
        <p14:creationId xmlns:p14="http://schemas.microsoft.com/office/powerpoint/2010/main" val="2185875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Modelo de objetos en </a:t>
            </a:r>
            <a:r>
              <a:rPr lang="es-ES" dirty="0" err="1"/>
              <a:t>odoo</a:t>
            </a:r>
            <a:endParaRPr lang="es-ES" dirty="0"/>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1141412" y="1123845"/>
            <a:ext cx="9905999" cy="5148617"/>
          </a:xfrm>
        </p:spPr>
        <p:txBody>
          <a:bodyPr>
            <a:noAutofit/>
          </a:bodyPr>
          <a:lstStyle/>
          <a:p>
            <a:pPr algn="just"/>
            <a:r>
              <a:rPr lang="es-ES" dirty="0"/>
              <a:t>Ajustes/Técnico/Estructura de la base de datos/Modelos</a:t>
            </a:r>
          </a:p>
          <a:p>
            <a:pPr algn="just"/>
            <a:r>
              <a:rPr lang="es-ES" dirty="0"/>
              <a:t>La base de datos de un ERP es muy grande </a:t>
            </a:r>
            <a:r>
              <a:rPr lang="es-ES" dirty="0">
                <a:sym typeface="Wingdings" panose="05000000000000000000" pitchFamily="2" charset="2"/>
              </a:rPr>
              <a:t> tiene que tener organizados sus componentes.</a:t>
            </a:r>
          </a:p>
          <a:p>
            <a:pPr algn="just"/>
            <a:r>
              <a:rPr lang="es-ES" dirty="0">
                <a:sym typeface="Wingdings" panose="05000000000000000000" pitchFamily="2" charset="2"/>
              </a:rPr>
              <a:t>Hay una nomenclatura especial para organizar la información  ej. Un prefijo para saber a qué módulo pertenece un componente.</a:t>
            </a:r>
          </a:p>
          <a:p>
            <a:pPr algn="just"/>
            <a:r>
              <a:rPr lang="es-ES" dirty="0"/>
              <a:t>En los sistemas de planificación empresarial desarrollados en un lenguaje orientado a objetos, cualquier dato es accesible a través de objetos. </a:t>
            </a:r>
          </a:p>
          <a:p>
            <a:pPr algn="just"/>
            <a:r>
              <a:rPr lang="es-ES" dirty="0" err="1"/>
              <a:t>Ej</a:t>
            </a:r>
            <a:r>
              <a:rPr lang="es-ES" dirty="0"/>
              <a:t>: en </a:t>
            </a:r>
            <a:r>
              <a:rPr lang="es-ES" dirty="0" err="1"/>
              <a:t>Odoo</a:t>
            </a:r>
            <a:r>
              <a:rPr lang="es-ES" dirty="0"/>
              <a:t> tenemos un objeto </a:t>
            </a:r>
            <a:r>
              <a:rPr lang="es-ES" dirty="0" err="1"/>
              <a:t>res.partner</a:t>
            </a:r>
            <a:r>
              <a:rPr lang="es-ES" dirty="0"/>
              <a:t> para acceder a los datos concernientes a los colaboradores o socios, un objeto </a:t>
            </a:r>
            <a:r>
              <a:rPr lang="es-ES" dirty="0" err="1"/>
              <a:t>account.invoice</a:t>
            </a:r>
            <a:r>
              <a:rPr lang="es-ES" dirty="0"/>
              <a:t> para los datos de las facturas, etc. Ambos van precedidos de su prefijo.</a:t>
            </a:r>
          </a:p>
          <a:p>
            <a:pPr algn="just"/>
            <a:endParaRPr lang="es-ES" sz="2000" dirty="0"/>
          </a:p>
          <a:p>
            <a:endParaRPr lang="es-ES" dirty="0"/>
          </a:p>
          <a:p>
            <a:endParaRPr lang="es-ES" dirty="0"/>
          </a:p>
          <a:p>
            <a:endParaRPr lang="es-ES" dirty="0"/>
          </a:p>
        </p:txBody>
      </p:sp>
    </p:spTree>
    <p:extLst>
      <p:ext uri="{BB962C8B-B14F-4D97-AF65-F5344CB8AC3E}">
        <p14:creationId xmlns:p14="http://schemas.microsoft.com/office/powerpoint/2010/main" val="84775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Modelo de objetos en </a:t>
            </a:r>
            <a:r>
              <a:rPr lang="es-ES" dirty="0" err="1"/>
              <a:t>odoo</a:t>
            </a:r>
            <a:endParaRPr lang="es-ES" dirty="0"/>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1141412" y="1123845"/>
            <a:ext cx="9905999" cy="5148617"/>
          </a:xfrm>
        </p:spPr>
        <p:txBody>
          <a:bodyPr>
            <a:noAutofit/>
          </a:bodyPr>
          <a:lstStyle/>
          <a:p>
            <a:pPr algn="just"/>
            <a:r>
              <a:rPr lang="es-ES" sz="3200" dirty="0"/>
              <a:t>Podemos hacer clic en cualquiera de los modelos y ver los campos que contienen (en realidad son tablas de la BD).</a:t>
            </a:r>
          </a:p>
          <a:p>
            <a:pPr algn="just"/>
            <a:r>
              <a:rPr lang="es-ES" sz="2800" dirty="0"/>
              <a:t>Desde aquí podríamos incluso modificar la base de datos: añadir campos…</a:t>
            </a:r>
          </a:p>
          <a:p>
            <a:pPr algn="just"/>
            <a:r>
              <a:rPr lang="es-ES" sz="2800" dirty="0"/>
              <a:t>La instalación de nuevos módulos conlleva la modificación de la estructura de la BD.</a:t>
            </a:r>
          </a:p>
          <a:p>
            <a:endParaRPr lang="es-ES" sz="3200" dirty="0"/>
          </a:p>
          <a:p>
            <a:endParaRPr lang="es-ES" sz="3200" dirty="0"/>
          </a:p>
          <a:p>
            <a:endParaRPr lang="es-ES" sz="3200" dirty="0"/>
          </a:p>
        </p:txBody>
      </p:sp>
    </p:spTree>
    <p:extLst>
      <p:ext uri="{BB962C8B-B14F-4D97-AF65-F5344CB8AC3E}">
        <p14:creationId xmlns:p14="http://schemas.microsoft.com/office/powerpoint/2010/main" val="4105171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Control de acceso</a:t>
            </a:r>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1141412" y="1123845"/>
            <a:ext cx="9905999" cy="5148617"/>
          </a:xfrm>
        </p:spPr>
        <p:txBody>
          <a:bodyPr>
            <a:noAutofit/>
          </a:bodyPr>
          <a:lstStyle/>
          <a:p>
            <a:pPr algn="just"/>
            <a:r>
              <a:rPr lang="es-ES" sz="3200" dirty="0" err="1"/>
              <a:t>Odoo</a:t>
            </a:r>
            <a:r>
              <a:rPr lang="es-ES" sz="3200" dirty="0"/>
              <a:t> trabaja con usuarios y grupos.</a:t>
            </a:r>
          </a:p>
          <a:p>
            <a:pPr algn="just"/>
            <a:r>
              <a:rPr lang="es-ES" sz="3200" dirty="0"/>
              <a:t>Cada usuario pertenece a uno o más grupos:</a:t>
            </a:r>
          </a:p>
          <a:p>
            <a:pPr lvl="1" algn="just"/>
            <a:r>
              <a:rPr lang="es-ES" sz="2400" dirty="0"/>
              <a:t>Qué menús podrá visualizar.</a:t>
            </a:r>
          </a:p>
          <a:p>
            <a:pPr lvl="1" algn="just"/>
            <a:r>
              <a:rPr lang="es-ES" sz="2400" dirty="0"/>
              <a:t>A qué tablas de la BD podrá acceder.</a:t>
            </a:r>
          </a:p>
          <a:p>
            <a:pPr algn="just"/>
            <a:r>
              <a:rPr lang="es-ES" sz="2800" dirty="0"/>
              <a:t>Para crear usuarios y grupos se usa el menú Configuración/Usuarios.</a:t>
            </a:r>
          </a:p>
          <a:p>
            <a:pPr algn="just"/>
            <a:r>
              <a:rPr lang="es-ES" sz="2800" dirty="0"/>
              <a:t>Cada grupo dispondrá de una cantidad limitada de permisos.</a:t>
            </a:r>
          </a:p>
          <a:p>
            <a:pPr algn="just"/>
            <a:r>
              <a:rPr lang="es-ES" sz="1800" i="1" u="sng" dirty="0">
                <a:solidFill>
                  <a:srgbClr val="000080"/>
                </a:solidFill>
                <a:effectLst/>
                <a:latin typeface="Roboto" panose="02000000000000000000" pitchFamily="2" charset="0"/>
                <a:ea typeface="Roboto" panose="02000000000000000000" pitchFamily="2" charset="0"/>
                <a:cs typeface="Roboto" panose="02000000000000000000" pitchFamily="2" charset="0"/>
                <a:hlinkClick r:id="rId2"/>
              </a:rPr>
              <a:t>Vídeo: Manejo de usuarios y grupos en </a:t>
            </a:r>
            <a:r>
              <a:rPr lang="es-ES" sz="1800" i="1" u="sng" dirty="0" err="1">
                <a:solidFill>
                  <a:srgbClr val="000080"/>
                </a:solidFill>
                <a:effectLst/>
                <a:latin typeface="Roboto" panose="02000000000000000000" pitchFamily="2" charset="0"/>
                <a:ea typeface="Roboto" panose="02000000000000000000" pitchFamily="2" charset="0"/>
                <a:cs typeface="Roboto" panose="02000000000000000000" pitchFamily="2" charset="0"/>
                <a:hlinkClick r:id="rId2"/>
              </a:rPr>
              <a:t>Odoo</a:t>
            </a:r>
            <a:r>
              <a:rPr lang="es-ES" sz="1800" i="1" u="sng" dirty="0">
                <a:solidFill>
                  <a:srgbClr val="000080"/>
                </a:solidFill>
                <a:effectLst/>
                <a:latin typeface="Roboto" panose="02000000000000000000" pitchFamily="2" charset="0"/>
                <a:ea typeface="Roboto" panose="02000000000000000000" pitchFamily="2" charset="0"/>
                <a:cs typeface="Roboto" panose="02000000000000000000" pitchFamily="2" charset="0"/>
                <a:hlinkClick r:id="rId2"/>
              </a:rPr>
              <a:t> 10</a:t>
            </a:r>
            <a:endParaRPr lang="es-ES" sz="3200" dirty="0"/>
          </a:p>
          <a:p>
            <a:pPr marL="0" indent="0">
              <a:buNone/>
            </a:pPr>
            <a:r>
              <a:rPr lang="es-ES" sz="3200" dirty="0"/>
              <a:t>Para cambiar contraseña en “Acciones”</a:t>
            </a:r>
          </a:p>
          <a:p>
            <a:endParaRPr lang="es-ES" sz="3200" dirty="0"/>
          </a:p>
        </p:txBody>
      </p:sp>
    </p:spTree>
    <p:extLst>
      <p:ext uri="{BB962C8B-B14F-4D97-AF65-F5344CB8AC3E}">
        <p14:creationId xmlns:p14="http://schemas.microsoft.com/office/powerpoint/2010/main" val="217523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EJERCICIO</a:t>
            </a:r>
          </a:p>
        </p:txBody>
      </p:sp>
      <p:sp>
        <p:nvSpPr>
          <p:cNvPr id="4" name="Marcador de contenido 3">
            <a:extLst>
              <a:ext uri="{FF2B5EF4-FFF2-40B4-BE49-F238E27FC236}">
                <a16:creationId xmlns:a16="http://schemas.microsoft.com/office/drawing/2014/main" id="{5A8DA4A6-57D4-4B5A-A8D9-D5C4DEFA7714}"/>
              </a:ext>
            </a:extLst>
          </p:cNvPr>
          <p:cNvSpPr>
            <a:spLocks noGrp="1"/>
          </p:cNvSpPr>
          <p:nvPr>
            <p:ph idx="1"/>
          </p:nvPr>
        </p:nvSpPr>
        <p:spPr/>
        <p:txBody>
          <a:bodyPr/>
          <a:lstStyle/>
          <a:p>
            <a:endParaRPr lang="es-ES"/>
          </a:p>
        </p:txBody>
      </p:sp>
      <p:pic>
        <p:nvPicPr>
          <p:cNvPr id="7" name="Imagen 6">
            <a:extLst>
              <a:ext uri="{FF2B5EF4-FFF2-40B4-BE49-F238E27FC236}">
                <a16:creationId xmlns:a16="http://schemas.microsoft.com/office/drawing/2014/main" id="{4F623E71-21E4-4698-A7EF-CF28837FFE4D}"/>
              </a:ext>
            </a:extLst>
          </p:cNvPr>
          <p:cNvPicPr>
            <a:picLocks noChangeAspect="1"/>
          </p:cNvPicPr>
          <p:nvPr/>
        </p:nvPicPr>
        <p:blipFill>
          <a:blip r:embed="rId2"/>
          <a:stretch>
            <a:fillRect/>
          </a:stretch>
        </p:blipFill>
        <p:spPr>
          <a:xfrm>
            <a:off x="896645" y="1189953"/>
            <a:ext cx="10945812" cy="4713697"/>
          </a:xfrm>
          <a:prstGeom prst="rect">
            <a:avLst/>
          </a:prstGeom>
        </p:spPr>
      </p:pic>
    </p:spTree>
    <p:extLst>
      <p:ext uri="{BB962C8B-B14F-4D97-AF65-F5344CB8AC3E}">
        <p14:creationId xmlns:p14="http://schemas.microsoft.com/office/powerpoint/2010/main" val="101738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MODIFICACIÓN DE MENÚS</a:t>
            </a:r>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1141412" y="1123845"/>
            <a:ext cx="9905999" cy="5148617"/>
          </a:xfrm>
        </p:spPr>
        <p:txBody>
          <a:bodyPr>
            <a:noAutofit/>
          </a:bodyPr>
          <a:lstStyle/>
          <a:p>
            <a:r>
              <a:rPr lang="es-ES" dirty="0"/>
              <a:t>Los menús en </a:t>
            </a:r>
            <a:r>
              <a:rPr lang="es-ES" dirty="0" err="1"/>
              <a:t>Odoo</a:t>
            </a:r>
            <a:r>
              <a:rPr lang="es-ES" dirty="0"/>
              <a:t> pueden modificarse en su totalidad. </a:t>
            </a:r>
          </a:p>
          <a:p>
            <a:r>
              <a:rPr lang="es-ES" dirty="0"/>
              <a:t>La configuración se realiza desde el apartado Ajustes&gt;Técnico&gt;Interfaz de usuario&gt;Elementos de menú.</a:t>
            </a:r>
          </a:p>
          <a:p>
            <a:r>
              <a:rPr lang="es-ES" dirty="0"/>
              <a:t>Podemos ver todos los elementos de menú creados para todos los usuarios y grupos. </a:t>
            </a:r>
          </a:p>
          <a:p>
            <a:r>
              <a:rPr lang="es-ES" dirty="0"/>
              <a:t>Los menús aparecen dependiendo del grupo o grupos a los que pertenezca el usuario.</a:t>
            </a:r>
          </a:p>
          <a:p>
            <a:r>
              <a:rPr lang="es-ES" dirty="0"/>
              <a:t>Tenemos menús que no tienen padre (</a:t>
            </a:r>
            <a:r>
              <a:rPr lang="es-ES" dirty="0" err="1"/>
              <a:t>Ej</a:t>
            </a:r>
            <a:r>
              <a:rPr lang="es-ES" dirty="0"/>
              <a:t>: inventario). Suelen tener un número de secuencia y una lista de submenús.</a:t>
            </a:r>
          </a:p>
          <a:p>
            <a:r>
              <a:rPr lang="es-ES" dirty="0">
                <a:hlinkClick r:id="rId2"/>
              </a:rPr>
              <a:t>https://www.youtube.com/watch?v=TLdsFuj30nk</a:t>
            </a:r>
            <a:endParaRPr lang="es-ES" dirty="0"/>
          </a:p>
          <a:p>
            <a:endParaRPr lang="es-ES" sz="3200" dirty="0"/>
          </a:p>
        </p:txBody>
      </p:sp>
    </p:spTree>
    <p:extLst>
      <p:ext uri="{BB962C8B-B14F-4D97-AF65-F5344CB8AC3E}">
        <p14:creationId xmlns:p14="http://schemas.microsoft.com/office/powerpoint/2010/main" val="2388284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EJERCICIO MENÚS</a:t>
            </a:r>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1141412" y="1123845"/>
            <a:ext cx="9905999" cy="5148617"/>
          </a:xfrm>
        </p:spPr>
        <p:txBody>
          <a:bodyPr>
            <a:noAutofit/>
          </a:bodyPr>
          <a:lstStyle/>
          <a:p>
            <a:r>
              <a:rPr lang="es-ES" dirty="0"/>
              <a:t>Crea un grupo nuevo llamado “Usuario especial” asociado a “Inventario”.</a:t>
            </a:r>
          </a:p>
          <a:p>
            <a:r>
              <a:rPr lang="es-ES" dirty="0"/>
              <a:t>Crea un usuario nuevo llamado “Juan López” y asígnale el grupo Usuario especial.</a:t>
            </a:r>
          </a:p>
          <a:p>
            <a:r>
              <a:rPr lang="es-ES" dirty="0"/>
              <a:t>Crea un menú “Acceso rápido”:</a:t>
            </a:r>
          </a:p>
          <a:p>
            <a:pPr lvl="1"/>
            <a:r>
              <a:rPr lang="es-ES" dirty="0"/>
              <a:t>Debes asignarlo al grupo “usuario especial”.</a:t>
            </a:r>
          </a:p>
          <a:p>
            <a:pPr lvl="1"/>
            <a:r>
              <a:rPr lang="es-ES" dirty="0"/>
              <a:t>Crea un submenú que de paso a “Clientes”.</a:t>
            </a:r>
          </a:p>
          <a:p>
            <a:pPr lvl="1"/>
            <a:r>
              <a:rPr lang="es-ES" dirty="0"/>
              <a:t>Crea un submenú que de paso a “Proveedores”.</a:t>
            </a:r>
          </a:p>
          <a:p>
            <a:pPr lvl="1"/>
            <a:r>
              <a:rPr lang="es-ES" dirty="0"/>
              <a:t>Crea un submenú que de paso  a “Productos”.</a:t>
            </a:r>
          </a:p>
          <a:p>
            <a:r>
              <a:rPr lang="es-ES" dirty="0"/>
              <a:t>Comprueba que el usuario “Juan López” puede ver el nuevo menú que hemos creado y que otro usuario que no esté en su grupo no puede verlo.</a:t>
            </a:r>
          </a:p>
          <a:p>
            <a:endParaRPr lang="es-ES" sz="3200" dirty="0"/>
          </a:p>
        </p:txBody>
      </p:sp>
    </p:spTree>
    <p:extLst>
      <p:ext uri="{BB962C8B-B14F-4D97-AF65-F5344CB8AC3E}">
        <p14:creationId xmlns:p14="http://schemas.microsoft.com/office/powerpoint/2010/main" val="1478226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Creación y modificación de los objetos del sistema</a:t>
            </a:r>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1141412" y="1478570"/>
            <a:ext cx="9905999" cy="5148617"/>
          </a:xfrm>
        </p:spPr>
        <p:txBody>
          <a:bodyPr>
            <a:noAutofit/>
          </a:bodyPr>
          <a:lstStyle/>
          <a:p>
            <a:r>
              <a:rPr lang="es-ES" sz="2800" dirty="0"/>
              <a:t>Puede que haya que añadir campos a objetos existentes o crear objetos nuevos.</a:t>
            </a:r>
          </a:p>
          <a:p>
            <a:r>
              <a:rPr lang="es-ES" sz="2800" dirty="0"/>
              <a:t>Todo esto se puede hacer sin tocar líneas de código.</a:t>
            </a:r>
          </a:p>
          <a:p>
            <a:r>
              <a:rPr lang="es-ES" sz="2800" dirty="0"/>
              <a:t>También se pueden borrar campos de objetos existentes (aunque no es recomendable ya que puede ser usado por varios módulos).</a:t>
            </a:r>
          </a:p>
          <a:p>
            <a:r>
              <a:rPr lang="es-ES" sz="2800" dirty="0"/>
              <a:t>Una vez creado el nuevo objeto hay que crear las pantallas para poder listarlo, dar de alta, borrar… </a:t>
            </a:r>
            <a:r>
              <a:rPr lang="es-ES" sz="2800" dirty="0">
                <a:sym typeface="Wingdings" panose="05000000000000000000" pitchFamily="2" charset="2"/>
              </a:rPr>
              <a:t> Vistas</a:t>
            </a:r>
            <a:endParaRPr lang="es-ES" sz="2800" dirty="0"/>
          </a:p>
          <a:p>
            <a:endParaRPr lang="es-ES" sz="3600" dirty="0"/>
          </a:p>
        </p:txBody>
      </p:sp>
    </p:spTree>
    <p:extLst>
      <p:ext uri="{BB962C8B-B14F-4D97-AF65-F5344CB8AC3E}">
        <p14:creationId xmlns:p14="http://schemas.microsoft.com/office/powerpoint/2010/main" val="1109370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Manejo de las vistas</a:t>
            </a:r>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173770"/>
            <a:ext cx="9905999" cy="5148617"/>
          </a:xfrm>
        </p:spPr>
        <p:txBody>
          <a:bodyPr>
            <a:noAutofit/>
          </a:bodyPr>
          <a:lstStyle/>
          <a:p>
            <a:r>
              <a:rPr lang="es-ES" sz="2800" dirty="0"/>
              <a:t>La información de las tablas y de cualquier otro objeto se muestra a través de vistas.</a:t>
            </a:r>
          </a:p>
          <a:p>
            <a:r>
              <a:rPr lang="es-ES" sz="2800" dirty="0"/>
              <a:t>Cada objeto tiene su propia interfaz (no se muestran igual datos de la empresa que datos de una factura).</a:t>
            </a:r>
          </a:p>
          <a:p>
            <a:r>
              <a:rPr lang="es-ES" sz="2800" dirty="0"/>
              <a:t>Las interfaces pueden ser:</a:t>
            </a:r>
          </a:p>
          <a:p>
            <a:pPr lvl="1"/>
            <a:r>
              <a:rPr lang="es-ES" sz="2400" dirty="0"/>
              <a:t>Estáticas: se crean dentro del código de la aplicación y no se pueden modificar.</a:t>
            </a:r>
          </a:p>
          <a:p>
            <a:pPr lvl="1"/>
            <a:r>
              <a:rPr lang="es-ES" sz="2400" dirty="0"/>
              <a:t>Dinámicas: pueden ser modificadas por parte del usuario </a:t>
            </a:r>
            <a:r>
              <a:rPr lang="es-ES" sz="2400" dirty="0">
                <a:sym typeface="Wingdings" panose="05000000000000000000" pitchFamily="2" charset="2"/>
              </a:rPr>
              <a:t> se almacena la descripción de la vista en un lenguaje que permita su modificación (EJ: XML).</a:t>
            </a:r>
            <a:endParaRPr lang="es-ES" sz="2400" dirty="0"/>
          </a:p>
          <a:p>
            <a:endParaRPr lang="es-ES" sz="3600" dirty="0"/>
          </a:p>
        </p:txBody>
      </p:sp>
    </p:spTree>
    <p:extLst>
      <p:ext uri="{BB962C8B-B14F-4D97-AF65-F5344CB8AC3E}">
        <p14:creationId xmlns:p14="http://schemas.microsoft.com/office/powerpoint/2010/main" val="1879098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Manejo de las vistas</a:t>
            </a:r>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173770"/>
            <a:ext cx="9905999" cy="5148617"/>
          </a:xfrm>
        </p:spPr>
        <p:txBody>
          <a:bodyPr>
            <a:noAutofit/>
          </a:bodyPr>
          <a:lstStyle/>
          <a:p>
            <a:r>
              <a:rPr lang="es-ES" sz="2800" dirty="0"/>
              <a:t>Las interfaces dinámicas son construidas de forma dinámica por la descripción XML de la pantalla del cliente.</a:t>
            </a:r>
          </a:p>
          <a:p>
            <a:r>
              <a:rPr lang="es-ES" sz="2800" dirty="0"/>
              <a:t>No hay que ser expertos en el lenguaje.</a:t>
            </a:r>
          </a:p>
          <a:p>
            <a:r>
              <a:rPr lang="es-ES" sz="2800" dirty="0"/>
              <a:t>Podemos hacer objetos sencillos a partir de otros objetos ya creados.</a:t>
            </a:r>
          </a:p>
          <a:p>
            <a:r>
              <a:rPr lang="es-ES" sz="2800" dirty="0"/>
              <a:t>Muchas aplicaciones permiten crear descripciones de manera gráfica, sin necesidad de código manual.</a:t>
            </a:r>
            <a:endParaRPr lang="es-ES" sz="2400" dirty="0"/>
          </a:p>
          <a:p>
            <a:endParaRPr lang="es-ES" sz="3600" dirty="0"/>
          </a:p>
        </p:txBody>
      </p:sp>
    </p:spTree>
    <p:extLst>
      <p:ext uri="{BB962C8B-B14F-4D97-AF65-F5344CB8AC3E}">
        <p14:creationId xmlns:p14="http://schemas.microsoft.com/office/powerpoint/2010/main" val="1231117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A9A1970-8AB3-407C-9D69-AF081D074AE5}"/>
              </a:ext>
            </a:extLst>
          </p:cNvPr>
          <p:cNvPicPr>
            <a:picLocks noChangeAspect="1"/>
          </p:cNvPicPr>
          <p:nvPr/>
        </p:nvPicPr>
        <p:blipFill>
          <a:blip r:embed="rId2"/>
          <a:stretch>
            <a:fillRect/>
          </a:stretch>
        </p:blipFill>
        <p:spPr>
          <a:xfrm>
            <a:off x="160936" y="705853"/>
            <a:ext cx="11887610" cy="5454315"/>
          </a:xfrm>
          <a:prstGeom prst="rect">
            <a:avLst/>
          </a:prstGeom>
        </p:spPr>
      </p:pic>
    </p:spTree>
    <p:extLst>
      <p:ext uri="{BB962C8B-B14F-4D97-AF65-F5344CB8AC3E}">
        <p14:creationId xmlns:p14="http://schemas.microsoft.com/office/powerpoint/2010/main" val="3496947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Manejo de las vistas</a:t>
            </a:r>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029391"/>
            <a:ext cx="9905999" cy="5148617"/>
          </a:xfrm>
        </p:spPr>
        <p:txBody>
          <a:bodyPr>
            <a:noAutofit/>
          </a:bodyPr>
          <a:lstStyle/>
          <a:p>
            <a:r>
              <a:rPr lang="es-ES" sz="3200" dirty="0"/>
              <a:t>Con el código anterior estamos creando una vista de tipo formulario. </a:t>
            </a:r>
          </a:p>
          <a:p>
            <a:r>
              <a:rPr lang="es-ES" sz="3200" dirty="0"/>
              <a:t>Esta vista servirá para editar o introducir datos a la entidad “Persona”. </a:t>
            </a:r>
          </a:p>
          <a:p>
            <a:r>
              <a:rPr lang="es-ES" sz="3200" dirty="0"/>
              <a:t>Recogemos tres campos denominados: nombre, apellidos y edad. </a:t>
            </a:r>
          </a:p>
          <a:p>
            <a:r>
              <a:rPr lang="es-ES" sz="3200" dirty="0"/>
              <a:t>Esta definición se almacenará en un archivo XML que, al abrirlo desde la aplicación, mostrará el objeto resultante de la definición anterior.</a:t>
            </a:r>
          </a:p>
          <a:p>
            <a:endParaRPr lang="es-ES" sz="4400" dirty="0"/>
          </a:p>
        </p:txBody>
      </p:sp>
    </p:spTree>
    <p:extLst>
      <p:ext uri="{BB962C8B-B14F-4D97-AF65-F5344CB8AC3E}">
        <p14:creationId xmlns:p14="http://schemas.microsoft.com/office/powerpoint/2010/main" val="192673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Tipos de vistas</a:t>
            </a:r>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029392"/>
            <a:ext cx="9905999" cy="975872"/>
          </a:xfrm>
        </p:spPr>
        <p:txBody>
          <a:bodyPr>
            <a:noAutofit/>
          </a:bodyPr>
          <a:lstStyle/>
          <a:p>
            <a:r>
              <a:rPr lang="es-ES" sz="3200" dirty="0"/>
              <a:t>Formularios (</a:t>
            </a:r>
            <a:r>
              <a:rPr lang="es-ES" sz="3200" dirty="0" err="1"/>
              <a:t>form</a:t>
            </a:r>
            <a:r>
              <a:rPr lang="es-ES" sz="3200" dirty="0"/>
              <a:t>):</a:t>
            </a:r>
          </a:p>
          <a:p>
            <a:endParaRPr lang="es-ES" sz="3200" dirty="0"/>
          </a:p>
          <a:p>
            <a:endParaRPr lang="es-ES" sz="4400" dirty="0"/>
          </a:p>
        </p:txBody>
      </p:sp>
      <p:pic>
        <p:nvPicPr>
          <p:cNvPr id="4" name="image20.png">
            <a:extLst>
              <a:ext uri="{FF2B5EF4-FFF2-40B4-BE49-F238E27FC236}">
                <a16:creationId xmlns:a16="http://schemas.microsoft.com/office/drawing/2014/main" id="{79080A59-FD49-4CB2-A39A-3D04DCD75622}"/>
              </a:ext>
            </a:extLst>
          </p:cNvPr>
          <p:cNvPicPr/>
          <p:nvPr/>
        </p:nvPicPr>
        <p:blipFill>
          <a:blip r:embed="rId2">
            <a:lum/>
            <a:alphaModFix/>
          </a:blip>
          <a:srcRect/>
          <a:stretch>
            <a:fillRect/>
          </a:stretch>
        </p:blipFill>
        <p:spPr>
          <a:xfrm>
            <a:off x="2213811" y="1812758"/>
            <a:ext cx="7475621" cy="4283241"/>
          </a:xfrm>
          <a:prstGeom prst="rect">
            <a:avLst/>
          </a:prstGeom>
          <a:noFill/>
          <a:ln>
            <a:noFill/>
            <a:prstDash/>
          </a:ln>
        </p:spPr>
      </p:pic>
    </p:spTree>
    <p:extLst>
      <p:ext uri="{BB962C8B-B14F-4D97-AF65-F5344CB8AC3E}">
        <p14:creationId xmlns:p14="http://schemas.microsoft.com/office/powerpoint/2010/main" val="3547135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Tipos de vistas</a:t>
            </a:r>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029392"/>
            <a:ext cx="9905999" cy="975872"/>
          </a:xfrm>
        </p:spPr>
        <p:txBody>
          <a:bodyPr>
            <a:noAutofit/>
          </a:bodyPr>
          <a:lstStyle/>
          <a:p>
            <a:r>
              <a:rPr lang="es-ES" sz="3200" dirty="0"/>
              <a:t>Árbol (</a:t>
            </a:r>
            <a:r>
              <a:rPr lang="es-ES" sz="3200" dirty="0" err="1"/>
              <a:t>tree</a:t>
            </a:r>
            <a:r>
              <a:rPr lang="es-ES" sz="3200" dirty="0"/>
              <a:t>):</a:t>
            </a:r>
          </a:p>
          <a:p>
            <a:endParaRPr lang="es-ES" sz="3200" dirty="0"/>
          </a:p>
          <a:p>
            <a:endParaRPr lang="es-ES" sz="4400" dirty="0"/>
          </a:p>
        </p:txBody>
      </p:sp>
      <p:pic>
        <p:nvPicPr>
          <p:cNvPr id="5" name="image24.png">
            <a:extLst>
              <a:ext uri="{FF2B5EF4-FFF2-40B4-BE49-F238E27FC236}">
                <a16:creationId xmlns:a16="http://schemas.microsoft.com/office/drawing/2014/main" id="{BA22DE21-A3B5-4BA4-BDA2-F08EB645C4B4}"/>
              </a:ext>
            </a:extLst>
          </p:cNvPr>
          <p:cNvPicPr/>
          <p:nvPr/>
        </p:nvPicPr>
        <p:blipFill>
          <a:blip r:embed="rId2">
            <a:lum/>
            <a:alphaModFix/>
          </a:blip>
          <a:srcRect/>
          <a:stretch>
            <a:fillRect/>
          </a:stretch>
        </p:blipFill>
        <p:spPr>
          <a:xfrm>
            <a:off x="1141412" y="2005264"/>
            <a:ext cx="9905997" cy="3593431"/>
          </a:xfrm>
          <a:prstGeom prst="rect">
            <a:avLst/>
          </a:prstGeom>
          <a:noFill/>
          <a:ln>
            <a:noFill/>
            <a:prstDash/>
          </a:ln>
        </p:spPr>
      </p:pic>
    </p:spTree>
    <p:extLst>
      <p:ext uri="{BB962C8B-B14F-4D97-AF65-F5344CB8AC3E}">
        <p14:creationId xmlns:p14="http://schemas.microsoft.com/office/powerpoint/2010/main" val="49574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Tipos de vistas</a:t>
            </a:r>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029392"/>
            <a:ext cx="9905999" cy="975872"/>
          </a:xfrm>
        </p:spPr>
        <p:txBody>
          <a:bodyPr>
            <a:noAutofit/>
          </a:bodyPr>
          <a:lstStyle/>
          <a:p>
            <a:r>
              <a:rPr lang="es-ES" sz="3200" dirty="0"/>
              <a:t>Gantt</a:t>
            </a:r>
          </a:p>
          <a:p>
            <a:r>
              <a:rPr lang="es-ES" sz="3200" dirty="0"/>
              <a:t>Calendario</a:t>
            </a:r>
          </a:p>
          <a:p>
            <a:r>
              <a:rPr lang="es-ES" sz="3200" dirty="0"/>
              <a:t>Kanban (cajas):</a:t>
            </a:r>
          </a:p>
          <a:p>
            <a:endParaRPr lang="es-ES" sz="3200" dirty="0"/>
          </a:p>
          <a:p>
            <a:endParaRPr lang="es-ES" sz="4400" dirty="0"/>
          </a:p>
        </p:txBody>
      </p:sp>
      <p:pic>
        <p:nvPicPr>
          <p:cNvPr id="6" name="image18.png">
            <a:extLst>
              <a:ext uri="{FF2B5EF4-FFF2-40B4-BE49-F238E27FC236}">
                <a16:creationId xmlns:a16="http://schemas.microsoft.com/office/drawing/2014/main" id="{5BAC414C-0899-4E74-8890-709A87576C68}"/>
              </a:ext>
            </a:extLst>
          </p:cNvPr>
          <p:cNvPicPr/>
          <p:nvPr/>
        </p:nvPicPr>
        <p:blipFill>
          <a:blip r:embed="rId2">
            <a:lum/>
            <a:alphaModFix/>
          </a:blip>
          <a:srcRect/>
          <a:stretch>
            <a:fillRect/>
          </a:stretch>
        </p:blipFill>
        <p:spPr>
          <a:xfrm>
            <a:off x="2422358" y="3428999"/>
            <a:ext cx="6432884" cy="2875547"/>
          </a:xfrm>
          <a:prstGeom prst="rect">
            <a:avLst/>
          </a:prstGeom>
          <a:noFill/>
          <a:ln>
            <a:noFill/>
            <a:prstDash/>
          </a:ln>
        </p:spPr>
      </p:pic>
    </p:spTree>
    <p:extLst>
      <p:ext uri="{BB962C8B-B14F-4D97-AF65-F5344CB8AC3E}">
        <p14:creationId xmlns:p14="http://schemas.microsoft.com/office/powerpoint/2010/main" val="957444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Manejo de las vistas</a:t>
            </a:r>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029391"/>
            <a:ext cx="9905999" cy="5148617"/>
          </a:xfrm>
        </p:spPr>
        <p:txBody>
          <a:bodyPr>
            <a:noAutofit/>
          </a:bodyPr>
          <a:lstStyle/>
          <a:p>
            <a:r>
              <a:rPr lang="es-ES" sz="3200" dirty="0"/>
              <a:t>No todas las vistas están asociadas a cada objeto.</a:t>
            </a:r>
          </a:p>
          <a:p>
            <a:r>
              <a:rPr lang="es-ES" sz="3200" dirty="0"/>
              <a:t>Existen muchas vistas en el ERP ya creadas.</a:t>
            </a:r>
          </a:p>
          <a:p>
            <a:r>
              <a:rPr lang="es-ES" sz="3200" dirty="0"/>
              <a:t>Todas las vistas pueden ser modificadas.</a:t>
            </a:r>
          </a:p>
          <a:p>
            <a:r>
              <a:rPr lang="es-ES" sz="3200" dirty="0"/>
              <a:t>Pueden crearse nuevas vistas.</a:t>
            </a:r>
          </a:p>
          <a:p>
            <a:r>
              <a:rPr lang="es-ES" i="1" u="sng" dirty="0">
                <a:hlinkClick r:id="rId2"/>
              </a:rPr>
              <a:t>Vídeo: Edición de una vista /Tipos de vistas</a:t>
            </a:r>
            <a:endParaRPr lang="es-ES" sz="3200" dirty="0"/>
          </a:p>
          <a:p>
            <a:endParaRPr lang="es-ES" sz="4400" dirty="0"/>
          </a:p>
        </p:txBody>
      </p:sp>
    </p:spTree>
    <p:extLst>
      <p:ext uri="{BB962C8B-B14F-4D97-AF65-F5344CB8AC3E}">
        <p14:creationId xmlns:p14="http://schemas.microsoft.com/office/powerpoint/2010/main" val="3949585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Manejo de las vistas</a:t>
            </a:r>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029391"/>
            <a:ext cx="9905999" cy="2399609"/>
          </a:xfrm>
        </p:spPr>
        <p:txBody>
          <a:bodyPr>
            <a:noAutofit/>
          </a:bodyPr>
          <a:lstStyle/>
          <a:p>
            <a:r>
              <a:rPr lang="es-ES" sz="3200" dirty="0"/>
              <a:t>Para ver vistas: Configuración/Interfaz de usuario/Vistas</a:t>
            </a:r>
          </a:p>
          <a:p>
            <a:r>
              <a:rPr lang="es-ES" sz="3200" dirty="0"/>
              <a:t>Las vistas pueden heredar de otras vistas.</a:t>
            </a:r>
          </a:p>
          <a:p>
            <a:r>
              <a:rPr lang="es-ES" sz="3200" dirty="0"/>
              <a:t>Podemos encontrar una vista en concreto de forma gráfica</a:t>
            </a:r>
          </a:p>
          <a:p>
            <a:r>
              <a:rPr lang="es-ES" sz="3200" dirty="0"/>
              <a:t>El atributo invisible=1  hace que el campo en cuestión no se muestre.</a:t>
            </a:r>
          </a:p>
          <a:p>
            <a:r>
              <a:rPr lang="es-ES" sz="3200" dirty="0"/>
              <a:t>El atributo </a:t>
            </a:r>
            <a:r>
              <a:rPr lang="es-ES" sz="3200" dirty="0" err="1"/>
              <a:t>optional</a:t>
            </a:r>
            <a:r>
              <a:rPr lang="es-ES" sz="3200" dirty="0"/>
              <a:t>="</a:t>
            </a:r>
            <a:r>
              <a:rPr lang="es-ES" sz="3200" dirty="0" err="1"/>
              <a:t>hide</a:t>
            </a:r>
            <a:r>
              <a:rPr lang="es-ES" sz="3200" dirty="0"/>
              <a:t>“  hace que en la vista </a:t>
            </a:r>
            <a:r>
              <a:rPr lang="es-ES" sz="3200" dirty="0" err="1"/>
              <a:t>tree</a:t>
            </a:r>
            <a:r>
              <a:rPr lang="es-ES" sz="3200" dirty="0"/>
              <a:t> un atributo no aparezca por defecto (sí con los tres puntos).</a:t>
            </a:r>
          </a:p>
          <a:p>
            <a:pPr marL="0" indent="0">
              <a:buNone/>
            </a:pPr>
            <a:endParaRPr lang="es-ES" sz="4400" dirty="0"/>
          </a:p>
        </p:txBody>
      </p:sp>
    </p:spTree>
    <p:extLst>
      <p:ext uri="{BB962C8B-B14F-4D97-AF65-F5344CB8AC3E}">
        <p14:creationId xmlns:p14="http://schemas.microsoft.com/office/powerpoint/2010/main" val="1560573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Manejo de las vistas</a:t>
            </a:r>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029391"/>
            <a:ext cx="9905999" cy="5415797"/>
          </a:xfrm>
        </p:spPr>
        <p:txBody>
          <a:bodyPr>
            <a:noAutofit/>
          </a:bodyPr>
          <a:lstStyle/>
          <a:p>
            <a:r>
              <a:rPr lang="es-ES" sz="3200" dirty="0"/>
              <a:t>Ejercicios:</a:t>
            </a:r>
          </a:p>
          <a:p>
            <a:pPr lvl="1"/>
            <a:r>
              <a:rPr lang="es-ES" sz="2400" dirty="0"/>
              <a:t>Haz desaparecer las imágenes de los productos (vista Kanban).</a:t>
            </a:r>
          </a:p>
          <a:p>
            <a:pPr lvl="1"/>
            <a:r>
              <a:rPr lang="es-ES" sz="2400" dirty="0"/>
              <a:t>Haz que aparezcan todos los campos posibles de los productos en la vista árbol</a:t>
            </a:r>
          </a:p>
          <a:p>
            <a:pPr lvl="1"/>
            <a:r>
              <a:rPr lang="es-ES" sz="2400" dirty="0"/>
              <a:t>Haz que el campo “referencia interna” esté oculto para los usuarios y compruébalo en un usuario distinto al administrador.</a:t>
            </a:r>
          </a:p>
          <a:p>
            <a:pPr lvl="1"/>
            <a:r>
              <a:rPr lang="es-ES" sz="2400" dirty="0"/>
              <a:t>Cambia “Información General” por solo “General” en la primera pestaña del formulario de productos.</a:t>
            </a:r>
          </a:p>
          <a:p>
            <a:pPr lvl="1"/>
            <a:r>
              <a:rPr lang="es-ES" sz="2400" dirty="0"/>
              <a:t>Crea una pestaña nueva vacía con el título “Datos” en el formulario de productos.</a:t>
            </a:r>
          </a:p>
        </p:txBody>
      </p:sp>
    </p:spTree>
    <p:extLst>
      <p:ext uri="{BB962C8B-B14F-4D97-AF65-F5344CB8AC3E}">
        <p14:creationId xmlns:p14="http://schemas.microsoft.com/office/powerpoint/2010/main" val="3593394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Crear un nuevo objeto en </a:t>
            </a:r>
            <a:r>
              <a:rPr lang="es-ES" dirty="0" err="1"/>
              <a:t>odoo</a:t>
            </a:r>
            <a:endParaRPr lang="es-ES" dirty="0"/>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029391"/>
            <a:ext cx="9905999" cy="5415797"/>
          </a:xfrm>
        </p:spPr>
        <p:txBody>
          <a:bodyPr>
            <a:noAutofit/>
          </a:bodyPr>
          <a:lstStyle/>
          <a:p>
            <a:r>
              <a:rPr lang="es-ES" i="1" u="sng" dirty="0">
                <a:hlinkClick r:id="rId2"/>
              </a:rPr>
              <a:t>Vídeo: Creación de un objeto y vistas asociadas</a:t>
            </a:r>
            <a:endParaRPr lang="es-ES" i="1" u="sng" dirty="0"/>
          </a:p>
          <a:p>
            <a:r>
              <a:rPr lang="es-ES" i="1" u="sng" dirty="0"/>
              <a:t>Ver modelo </a:t>
            </a:r>
            <a:r>
              <a:rPr lang="es-ES" i="1" u="sng" dirty="0" err="1"/>
              <a:t>producto.template</a:t>
            </a:r>
            <a:endParaRPr lang="es-ES" i="1" u="sng" dirty="0"/>
          </a:p>
          <a:p>
            <a:pPr lvl="0"/>
            <a:r>
              <a:rPr lang="es-ES" dirty="0"/>
              <a:t>Configuración/Estructura de BD/ Modelos/ Crear</a:t>
            </a:r>
          </a:p>
          <a:p>
            <a:pPr lvl="1"/>
            <a:r>
              <a:rPr lang="es-ES" dirty="0" err="1"/>
              <a:t>Descripcion</a:t>
            </a:r>
            <a:r>
              <a:rPr lang="es-ES" dirty="0"/>
              <a:t>: coche</a:t>
            </a:r>
          </a:p>
          <a:p>
            <a:pPr lvl="1"/>
            <a:r>
              <a:rPr lang="es-ES" dirty="0"/>
              <a:t>Modelo: </a:t>
            </a:r>
            <a:r>
              <a:rPr lang="es-ES" dirty="0" err="1"/>
              <a:t>x_coche</a:t>
            </a:r>
            <a:r>
              <a:rPr lang="es-ES" dirty="0"/>
              <a:t>      </a:t>
            </a:r>
            <a:r>
              <a:rPr lang="es-ES" b="1" u="sng" dirty="0"/>
              <a:t>Hay que darle permisos al grupo para acceso al mismo.</a:t>
            </a:r>
          </a:p>
          <a:p>
            <a:pPr lvl="1"/>
            <a:r>
              <a:rPr lang="es-ES" dirty="0"/>
              <a:t>Borramos el campo que trae</a:t>
            </a:r>
          </a:p>
          <a:p>
            <a:pPr lvl="1"/>
            <a:r>
              <a:rPr lang="es-ES" dirty="0"/>
              <a:t>Añadimos: </a:t>
            </a:r>
            <a:r>
              <a:rPr lang="es-ES" dirty="0" err="1"/>
              <a:t>x_modelo</a:t>
            </a:r>
            <a:r>
              <a:rPr lang="es-ES" dirty="0"/>
              <a:t>, tipo </a:t>
            </a:r>
            <a:r>
              <a:rPr lang="es-ES" dirty="0" err="1"/>
              <a:t>char</a:t>
            </a:r>
            <a:r>
              <a:rPr lang="es-ES" dirty="0"/>
              <a:t>,  Etiqueta= Modelo   Requerido</a:t>
            </a:r>
          </a:p>
          <a:p>
            <a:pPr lvl="1"/>
            <a:r>
              <a:rPr lang="es-ES" dirty="0"/>
              <a:t>Añadimos : </a:t>
            </a:r>
            <a:r>
              <a:rPr lang="es-ES" dirty="0" err="1"/>
              <a:t>x_fechaAlta</a:t>
            </a:r>
            <a:r>
              <a:rPr lang="es-ES" dirty="0"/>
              <a:t>, date, Fecha, requerido</a:t>
            </a:r>
          </a:p>
          <a:p>
            <a:pPr lvl="1"/>
            <a:r>
              <a:rPr lang="es-ES" dirty="0"/>
              <a:t>Añadimos: </a:t>
            </a:r>
            <a:r>
              <a:rPr lang="es-ES" dirty="0" err="1"/>
              <a:t>x_pasajeros</a:t>
            </a:r>
            <a:r>
              <a:rPr lang="es-ES" dirty="0"/>
              <a:t>, </a:t>
            </a:r>
            <a:r>
              <a:rPr lang="es-ES" dirty="0" err="1"/>
              <a:t>integer</a:t>
            </a:r>
            <a:r>
              <a:rPr lang="es-ES" dirty="0"/>
              <a:t>, Pasajeros</a:t>
            </a:r>
          </a:p>
          <a:p>
            <a:pPr lvl="0"/>
            <a:r>
              <a:rPr lang="es-ES" dirty="0"/>
              <a:t>El botón crear menú me crea una vista por defecto para el nuevo objeto (nosotros lo haremos manual)</a:t>
            </a:r>
          </a:p>
          <a:p>
            <a:pPr marL="0" indent="0">
              <a:buNone/>
            </a:pPr>
            <a:endParaRPr lang="es-ES" sz="2400" dirty="0"/>
          </a:p>
        </p:txBody>
      </p:sp>
    </p:spTree>
    <p:extLst>
      <p:ext uri="{BB962C8B-B14F-4D97-AF65-F5344CB8AC3E}">
        <p14:creationId xmlns:p14="http://schemas.microsoft.com/office/powerpoint/2010/main" val="417798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Crear un nuevo objeto en </a:t>
            </a:r>
            <a:r>
              <a:rPr lang="es-ES" dirty="0" err="1"/>
              <a:t>odoo</a:t>
            </a:r>
            <a:endParaRPr lang="es-ES" dirty="0"/>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029391"/>
            <a:ext cx="9905999" cy="2050693"/>
          </a:xfrm>
        </p:spPr>
        <p:txBody>
          <a:bodyPr>
            <a:noAutofit/>
          </a:bodyPr>
          <a:lstStyle/>
          <a:p>
            <a:pPr lvl="0"/>
            <a:r>
              <a:rPr lang="es-ES" dirty="0"/>
              <a:t>Ajustes/interfaz usuario/ vista</a:t>
            </a:r>
          </a:p>
          <a:p>
            <a:pPr lvl="1"/>
            <a:r>
              <a:rPr lang="es-ES" dirty="0"/>
              <a:t>Vista de </a:t>
            </a:r>
            <a:r>
              <a:rPr lang="es-ES" dirty="0" err="1"/>
              <a:t>arbol</a:t>
            </a:r>
            <a:r>
              <a:rPr lang="es-ES" dirty="0"/>
              <a:t>:</a:t>
            </a:r>
          </a:p>
          <a:p>
            <a:pPr lvl="2"/>
            <a:r>
              <a:rPr lang="es-ES" dirty="0" err="1"/>
              <a:t>coche.tree</a:t>
            </a:r>
            <a:r>
              <a:rPr lang="es-ES" dirty="0"/>
              <a:t>, tipo </a:t>
            </a:r>
            <a:r>
              <a:rPr lang="es-ES" dirty="0" err="1"/>
              <a:t>arbol</a:t>
            </a:r>
            <a:r>
              <a:rPr lang="es-ES" dirty="0"/>
              <a:t>, modelo </a:t>
            </a:r>
            <a:r>
              <a:rPr lang="es-ES" dirty="0" err="1"/>
              <a:t>x_coche</a:t>
            </a:r>
            <a:r>
              <a:rPr lang="es-ES" dirty="0"/>
              <a:t>, no hereda de nada</a:t>
            </a:r>
          </a:p>
          <a:p>
            <a:pPr lvl="2"/>
            <a:r>
              <a:rPr lang="es-ES" dirty="0"/>
              <a:t>Estructura:</a:t>
            </a:r>
          </a:p>
          <a:p>
            <a:endParaRPr lang="es-ES" sz="2400" dirty="0"/>
          </a:p>
        </p:txBody>
      </p:sp>
      <p:pic>
        <p:nvPicPr>
          <p:cNvPr id="7" name="image5.png">
            <a:extLst>
              <a:ext uri="{FF2B5EF4-FFF2-40B4-BE49-F238E27FC236}">
                <a16:creationId xmlns:a16="http://schemas.microsoft.com/office/drawing/2014/main" id="{281DD1AE-56E9-4227-B7FD-E5FAC147186D}"/>
              </a:ext>
            </a:extLst>
          </p:cNvPr>
          <p:cNvPicPr/>
          <p:nvPr/>
        </p:nvPicPr>
        <p:blipFill>
          <a:blip r:embed="rId2">
            <a:lum/>
            <a:alphaModFix/>
          </a:blip>
          <a:srcRect/>
          <a:stretch>
            <a:fillRect/>
          </a:stretch>
        </p:blipFill>
        <p:spPr>
          <a:xfrm>
            <a:off x="2454442" y="2729230"/>
            <a:ext cx="7475621" cy="2805296"/>
          </a:xfrm>
          <a:prstGeom prst="rect">
            <a:avLst/>
          </a:prstGeom>
          <a:noFill/>
          <a:ln>
            <a:noFill/>
            <a:prstDash/>
          </a:ln>
        </p:spPr>
      </p:pic>
    </p:spTree>
    <p:extLst>
      <p:ext uri="{BB962C8B-B14F-4D97-AF65-F5344CB8AC3E}">
        <p14:creationId xmlns:p14="http://schemas.microsoft.com/office/powerpoint/2010/main" val="429127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Crear un nuevo objeto en </a:t>
            </a:r>
            <a:r>
              <a:rPr lang="es-ES" dirty="0" err="1"/>
              <a:t>odoo</a:t>
            </a:r>
            <a:endParaRPr lang="es-ES" dirty="0"/>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029391"/>
            <a:ext cx="9905999" cy="2050693"/>
          </a:xfrm>
        </p:spPr>
        <p:txBody>
          <a:bodyPr>
            <a:noAutofit/>
          </a:bodyPr>
          <a:lstStyle/>
          <a:p>
            <a:pPr lvl="1"/>
            <a:r>
              <a:rPr lang="es-ES" dirty="0"/>
              <a:t>Vista Formulario:</a:t>
            </a:r>
          </a:p>
          <a:p>
            <a:endParaRPr lang="es-ES" sz="2400" dirty="0"/>
          </a:p>
        </p:txBody>
      </p:sp>
      <p:pic>
        <p:nvPicPr>
          <p:cNvPr id="5" name="image22.png">
            <a:extLst>
              <a:ext uri="{FF2B5EF4-FFF2-40B4-BE49-F238E27FC236}">
                <a16:creationId xmlns:a16="http://schemas.microsoft.com/office/drawing/2014/main" id="{F6F73058-D141-45DA-8545-5F05801DB4AD}"/>
              </a:ext>
            </a:extLst>
          </p:cNvPr>
          <p:cNvPicPr/>
          <p:nvPr/>
        </p:nvPicPr>
        <p:blipFill>
          <a:blip r:embed="rId2">
            <a:lum/>
            <a:alphaModFix/>
          </a:blip>
          <a:srcRect/>
          <a:stretch>
            <a:fillRect/>
          </a:stretch>
        </p:blipFill>
        <p:spPr>
          <a:xfrm>
            <a:off x="1860884" y="1478570"/>
            <a:ext cx="8486274" cy="4553262"/>
          </a:xfrm>
          <a:prstGeom prst="rect">
            <a:avLst/>
          </a:prstGeom>
          <a:noFill/>
          <a:ln>
            <a:noFill/>
            <a:prstDash/>
          </a:ln>
        </p:spPr>
      </p:pic>
    </p:spTree>
    <p:extLst>
      <p:ext uri="{BB962C8B-B14F-4D97-AF65-F5344CB8AC3E}">
        <p14:creationId xmlns:p14="http://schemas.microsoft.com/office/powerpoint/2010/main" val="3392154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Crear un nuevo objeto en </a:t>
            </a:r>
            <a:r>
              <a:rPr lang="es-ES" dirty="0" err="1"/>
              <a:t>odoo</a:t>
            </a:r>
            <a:endParaRPr lang="es-ES" dirty="0"/>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029392"/>
            <a:ext cx="9905999" cy="1248588"/>
          </a:xfrm>
        </p:spPr>
        <p:txBody>
          <a:bodyPr>
            <a:noAutofit/>
          </a:bodyPr>
          <a:lstStyle/>
          <a:p>
            <a:pPr lvl="1"/>
            <a:r>
              <a:rPr lang="es-ES" dirty="0"/>
              <a:t>Creamos el </a:t>
            </a:r>
            <a:r>
              <a:rPr lang="es-ES" dirty="0" err="1"/>
              <a:t>menu</a:t>
            </a:r>
            <a:r>
              <a:rPr lang="es-ES" dirty="0"/>
              <a:t> con la acción que nos lleve a estas dos vistas:	</a:t>
            </a:r>
          </a:p>
          <a:p>
            <a:pPr lvl="2"/>
            <a:r>
              <a:rPr lang="es-ES" dirty="0"/>
              <a:t>Ajustes/acciones/acciones de ventana</a:t>
            </a:r>
          </a:p>
          <a:p>
            <a:endParaRPr lang="es-ES" sz="2400" dirty="0"/>
          </a:p>
        </p:txBody>
      </p:sp>
      <p:pic>
        <p:nvPicPr>
          <p:cNvPr id="6" name="image8.png">
            <a:extLst>
              <a:ext uri="{FF2B5EF4-FFF2-40B4-BE49-F238E27FC236}">
                <a16:creationId xmlns:a16="http://schemas.microsoft.com/office/drawing/2014/main" id="{0BAD594F-27F4-4C3E-859E-7034B1A58B9A}"/>
              </a:ext>
            </a:extLst>
          </p:cNvPr>
          <p:cNvPicPr/>
          <p:nvPr/>
        </p:nvPicPr>
        <p:blipFill>
          <a:blip r:embed="rId2">
            <a:lum/>
            <a:alphaModFix/>
          </a:blip>
          <a:srcRect/>
          <a:stretch>
            <a:fillRect/>
          </a:stretch>
        </p:blipFill>
        <p:spPr>
          <a:xfrm>
            <a:off x="2245896" y="1848167"/>
            <a:ext cx="6911122" cy="4279917"/>
          </a:xfrm>
          <a:prstGeom prst="rect">
            <a:avLst/>
          </a:prstGeom>
          <a:noFill/>
          <a:ln>
            <a:noFill/>
            <a:prstDash/>
          </a:ln>
        </p:spPr>
      </p:pic>
    </p:spTree>
    <p:extLst>
      <p:ext uri="{BB962C8B-B14F-4D97-AF65-F5344CB8AC3E}">
        <p14:creationId xmlns:p14="http://schemas.microsoft.com/office/powerpoint/2010/main" val="3841275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Crear un nuevo objeto en </a:t>
            </a:r>
            <a:r>
              <a:rPr lang="es-ES" dirty="0" err="1"/>
              <a:t>odoo</a:t>
            </a:r>
            <a:endParaRPr lang="es-ES" dirty="0"/>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029392"/>
            <a:ext cx="9905999" cy="1248588"/>
          </a:xfrm>
        </p:spPr>
        <p:txBody>
          <a:bodyPr>
            <a:noAutofit/>
          </a:bodyPr>
          <a:lstStyle/>
          <a:p>
            <a:pPr lvl="2"/>
            <a:r>
              <a:rPr lang="es-ES" dirty="0"/>
              <a:t>Crear Elemento de </a:t>
            </a:r>
            <a:r>
              <a:rPr lang="es-ES" dirty="0" err="1"/>
              <a:t>menu</a:t>
            </a:r>
            <a:endParaRPr lang="es-ES" dirty="0"/>
          </a:p>
          <a:p>
            <a:endParaRPr lang="es-ES" sz="2400" dirty="0"/>
          </a:p>
        </p:txBody>
      </p:sp>
      <p:pic>
        <p:nvPicPr>
          <p:cNvPr id="5" name="image23.png">
            <a:extLst>
              <a:ext uri="{FF2B5EF4-FFF2-40B4-BE49-F238E27FC236}">
                <a16:creationId xmlns:a16="http://schemas.microsoft.com/office/drawing/2014/main" id="{4F6D23C0-58E0-4808-B735-92E4ACCAC230}"/>
              </a:ext>
            </a:extLst>
          </p:cNvPr>
          <p:cNvPicPr/>
          <p:nvPr/>
        </p:nvPicPr>
        <p:blipFill>
          <a:blip r:embed="rId2">
            <a:lum/>
            <a:alphaModFix/>
          </a:blip>
          <a:srcRect/>
          <a:stretch>
            <a:fillRect/>
          </a:stretch>
        </p:blipFill>
        <p:spPr>
          <a:xfrm>
            <a:off x="1305010" y="1478570"/>
            <a:ext cx="9395074" cy="4874104"/>
          </a:xfrm>
          <a:prstGeom prst="rect">
            <a:avLst/>
          </a:prstGeom>
          <a:noFill/>
          <a:ln>
            <a:noFill/>
            <a:prstDash/>
          </a:ln>
        </p:spPr>
      </p:pic>
    </p:spTree>
    <p:extLst>
      <p:ext uri="{BB962C8B-B14F-4D97-AF65-F5344CB8AC3E}">
        <p14:creationId xmlns:p14="http://schemas.microsoft.com/office/powerpoint/2010/main" val="3295586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529800-73B7-45CF-AB19-D953C7F86692}"/>
              </a:ext>
            </a:extLst>
          </p:cNvPr>
          <p:cNvSpPr>
            <a:spLocks noGrp="1"/>
          </p:cNvSpPr>
          <p:nvPr>
            <p:ph type="title"/>
          </p:nvPr>
        </p:nvSpPr>
        <p:spPr/>
        <p:txBody>
          <a:bodyPr/>
          <a:lstStyle/>
          <a:p>
            <a:r>
              <a:rPr lang="es-ES" dirty="0"/>
              <a:t>ejercicios</a:t>
            </a:r>
          </a:p>
        </p:txBody>
      </p:sp>
      <p:sp>
        <p:nvSpPr>
          <p:cNvPr id="3" name="Marcador de contenido 2">
            <a:extLst>
              <a:ext uri="{FF2B5EF4-FFF2-40B4-BE49-F238E27FC236}">
                <a16:creationId xmlns:a16="http://schemas.microsoft.com/office/drawing/2014/main" id="{41A105E8-AD7D-4C94-A98D-EECAF10A0C65}"/>
              </a:ext>
            </a:extLst>
          </p:cNvPr>
          <p:cNvSpPr>
            <a:spLocks noGrp="1"/>
          </p:cNvSpPr>
          <p:nvPr>
            <p:ph idx="1"/>
          </p:nvPr>
        </p:nvSpPr>
        <p:spPr/>
        <p:txBody>
          <a:bodyPr/>
          <a:lstStyle/>
          <a:p>
            <a:r>
              <a:rPr lang="es-ES" dirty="0"/>
              <a:t>Crear el modelo coche explicado en el vídeo.</a:t>
            </a:r>
          </a:p>
          <a:p>
            <a:r>
              <a:rPr lang="es-ES" dirty="0"/>
              <a:t>Crear las vistas árbol y formulario para el modelo coche.</a:t>
            </a:r>
          </a:p>
          <a:p>
            <a:r>
              <a:rPr lang="es-ES" dirty="0"/>
              <a:t>Crear un menú asociado a “Inventario” para las vistas de Coche.</a:t>
            </a:r>
          </a:p>
          <a:p>
            <a:r>
              <a:rPr lang="es-ES" dirty="0"/>
              <a:t>Insertar varios coches.</a:t>
            </a:r>
          </a:p>
        </p:txBody>
      </p:sp>
    </p:spTree>
    <p:extLst>
      <p:ext uri="{BB962C8B-B14F-4D97-AF65-F5344CB8AC3E}">
        <p14:creationId xmlns:p14="http://schemas.microsoft.com/office/powerpoint/2010/main" val="3494924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Crear relaciones</a:t>
            </a:r>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029392"/>
            <a:ext cx="9905999" cy="3077388"/>
          </a:xfrm>
        </p:spPr>
        <p:txBody>
          <a:bodyPr>
            <a:noAutofit/>
          </a:bodyPr>
          <a:lstStyle/>
          <a:p>
            <a:r>
              <a:rPr lang="es-ES" i="1" u="sng" dirty="0">
                <a:hlinkClick r:id="rId2"/>
              </a:rPr>
              <a:t>Vídeo: Creación de relaciones en objetos</a:t>
            </a:r>
            <a:endParaRPr lang="es-ES" i="1" u="sng" dirty="0"/>
          </a:p>
          <a:p>
            <a:pPr lvl="0"/>
            <a:r>
              <a:rPr lang="es-ES" dirty="0"/>
              <a:t>Primero tenemos que averiguar qué modelo es “cliente”</a:t>
            </a:r>
          </a:p>
          <a:p>
            <a:pPr lvl="1"/>
            <a:r>
              <a:rPr lang="es-ES" dirty="0"/>
              <a:t>Nos vamos a la vista cliente, desarrollador, editar </a:t>
            </a:r>
            <a:r>
              <a:rPr lang="es-ES" dirty="0" err="1"/>
              <a:t>form</a:t>
            </a:r>
            <a:r>
              <a:rPr lang="es-ES" dirty="0"/>
              <a:t> (Nos damos cuenta que el modelo (objeto) es </a:t>
            </a:r>
            <a:r>
              <a:rPr lang="es-ES" dirty="0" err="1"/>
              <a:t>res.partner</a:t>
            </a:r>
            <a:r>
              <a:rPr lang="es-ES" dirty="0"/>
              <a:t>)</a:t>
            </a:r>
          </a:p>
          <a:p>
            <a:pPr lvl="0"/>
            <a:r>
              <a:rPr lang="es-ES" dirty="0"/>
              <a:t>Ahora modificamos nuestro objeto coche para añadir el campo Cliente</a:t>
            </a:r>
          </a:p>
          <a:p>
            <a:pPr lvl="1"/>
            <a:r>
              <a:rPr lang="es-ES" dirty="0"/>
              <a:t>Ajustes/Estructura </a:t>
            </a:r>
            <a:r>
              <a:rPr lang="es-ES" dirty="0" err="1"/>
              <a:t>bd</a:t>
            </a:r>
            <a:r>
              <a:rPr lang="es-ES" dirty="0"/>
              <a:t>/modelos/</a:t>
            </a:r>
            <a:r>
              <a:rPr lang="es-ES" dirty="0" err="1"/>
              <a:t>x_coche</a:t>
            </a:r>
            <a:r>
              <a:rPr lang="es-ES" dirty="0"/>
              <a:t>/editar/Añadir campo:</a:t>
            </a:r>
          </a:p>
          <a:p>
            <a:endParaRPr lang="es-ES" i="1" u="sng" dirty="0"/>
          </a:p>
          <a:p>
            <a:endParaRPr lang="es-ES" sz="3200" dirty="0"/>
          </a:p>
          <a:p>
            <a:endParaRPr lang="es-ES" sz="4400" dirty="0"/>
          </a:p>
        </p:txBody>
      </p:sp>
      <p:pic>
        <p:nvPicPr>
          <p:cNvPr id="4" name="Imagen 3">
            <a:extLst>
              <a:ext uri="{FF2B5EF4-FFF2-40B4-BE49-F238E27FC236}">
                <a16:creationId xmlns:a16="http://schemas.microsoft.com/office/drawing/2014/main" id="{AF2A92EA-1B4D-4093-AEC8-A723F2B0EA5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92845" y="3970370"/>
            <a:ext cx="5449570" cy="2703195"/>
          </a:xfrm>
          <a:prstGeom prst="rect">
            <a:avLst/>
          </a:prstGeom>
          <a:noFill/>
          <a:ln>
            <a:noFill/>
          </a:ln>
        </p:spPr>
      </p:pic>
    </p:spTree>
    <p:extLst>
      <p:ext uri="{BB962C8B-B14F-4D97-AF65-F5344CB8AC3E}">
        <p14:creationId xmlns:p14="http://schemas.microsoft.com/office/powerpoint/2010/main" val="729751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28AC1-3CF2-4FED-A83C-505CFCD4F702}"/>
              </a:ext>
            </a:extLst>
          </p:cNvPr>
          <p:cNvSpPr>
            <a:spLocks noGrp="1"/>
          </p:cNvSpPr>
          <p:nvPr>
            <p:ph type="title"/>
          </p:nvPr>
        </p:nvSpPr>
        <p:spPr>
          <a:xfrm>
            <a:off x="1141412" y="0"/>
            <a:ext cx="9905998" cy="1478570"/>
          </a:xfrm>
        </p:spPr>
        <p:txBody>
          <a:bodyPr/>
          <a:lstStyle/>
          <a:p>
            <a:r>
              <a:rPr lang="es-ES" dirty="0"/>
              <a:t>Crear relaciones</a:t>
            </a:r>
          </a:p>
        </p:txBody>
      </p:sp>
      <p:sp>
        <p:nvSpPr>
          <p:cNvPr id="3" name="Marcador de contenido 2">
            <a:extLst>
              <a:ext uri="{FF2B5EF4-FFF2-40B4-BE49-F238E27FC236}">
                <a16:creationId xmlns:a16="http://schemas.microsoft.com/office/drawing/2014/main" id="{B7D9CE54-77D2-435F-80A2-5766F89EBC6F}"/>
              </a:ext>
            </a:extLst>
          </p:cNvPr>
          <p:cNvSpPr>
            <a:spLocks noGrp="1"/>
          </p:cNvSpPr>
          <p:nvPr>
            <p:ph idx="1"/>
          </p:nvPr>
        </p:nvSpPr>
        <p:spPr>
          <a:xfrm>
            <a:off x="980991" y="1029392"/>
            <a:ext cx="9905999" cy="3077388"/>
          </a:xfrm>
        </p:spPr>
        <p:txBody>
          <a:bodyPr>
            <a:noAutofit/>
          </a:bodyPr>
          <a:lstStyle/>
          <a:p>
            <a:pPr lvl="0"/>
            <a:r>
              <a:rPr lang="es-ES" dirty="0"/>
              <a:t>Modificamos la vista para que aparezca: ajustes/interfaz/vistas/</a:t>
            </a:r>
            <a:r>
              <a:rPr lang="es-ES" dirty="0" err="1"/>
              <a:t>coche.form</a:t>
            </a:r>
            <a:r>
              <a:rPr lang="es-ES" dirty="0"/>
              <a:t>(por ejemplo) y añadimos campo:</a:t>
            </a:r>
          </a:p>
          <a:p>
            <a:endParaRPr lang="es-ES" i="1" u="sng" dirty="0"/>
          </a:p>
          <a:p>
            <a:endParaRPr lang="es-ES" sz="3200" dirty="0"/>
          </a:p>
          <a:p>
            <a:endParaRPr lang="es-ES" sz="4400" dirty="0"/>
          </a:p>
        </p:txBody>
      </p:sp>
      <p:pic>
        <p:nvPicPr>
          <p:cNvPr id="5" name="Imagen 4">
            <a:extLst>
              <a:ext uri="{FF2B5EF4-FFF2-40B4-BE49-F238E27FC236}">
                <a16:creationId xmlns:a16="http://schemas.microsoft.com/office/drawing/2014/main" id="{75B2FC19-2E46-4042-923D-84BAA7E719B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71538" y="2507962"/>
            <a:ext cx="5261810" cy="3769878"/>
          </a:xfrm>
          <a:prstGeom prst="rect">
            <a:avLst/>
          </a:prstGeom>
          <a:noFill/>
          <a:ln>
            <a:noFill/>
          </a:ln>
        </p:spPr>
      </p:pic>
    </p:spTree>
    <p:extLst>
      <p:ext uri="{BB962C8B-B14F-4D97-AF65-F5344CB8AC3E}">
        <p14:creationId xmlns:p14="http://schemas.microsoft.com/office/powerpoint/2010/main" val="1438964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E5FE94-3947-41F1-ADC7-E7C726F5BC26}"/>
              </a:ext>
            </a:extLst>
          </p:cNvPr>
          <p:cNvSpPr>
            <a:spLocks noGrp="1"/>
          </p:cNvSpPr>
          <p:nvPr>
            <p:ph type="title"/>
          </p:nvPr>
        </p:nvSpPr>
        <p:spPr/>
        <p:txBody>
          <a:bodyPr/>
          <a:lstStyle/>
          <a:p>
            <a:r>
              <a:rPr lang="es-ES" dirty="0"/>
              <a:t>ejercicio</a:t>
            </a:r>
          </a:p>
        </p:txBody>
      </p:sp>
      <p:sp>
        <p:nvSpPr>
          <p:cNvPr id="3" name="Marcador de contenido 2">
            <a:extLst>
              <a:ext uri="{FF2B5EF4-FFF2-40B4-BE49-F238E27FC236}">
                <a16:creationId xmlns:a16="http://schemas.microsoft.com/office/drawing/2014/main" id="{2F534D81-5233-4EAB-BC5F-22300A5EE59E}"/>
              </a:ext>
            </a:extLst>
          </p:cNvPr>
          <p:cNvSpPr>
            <a:spLocks noGrp="1"/>
          </p:cNvSpPr>
          <p:nvPr>
            <p:ph idx="1"/>
          </p:nvPr>
        </p:nvSpPr>
        <p:spPr/>
        <p:txBody>
          <a:bodyPr>
            <a:normAutofit/>
          </a:bodyPr>
          <a:lstStyle/>
          <a:p>
            <a:r>
              <a:rPr lang="es-ES" sz="3600" dirty="0"/>
              <a:t>Crea una vista donde pueda ver los coches que tiene cada usuario.</a:t>
            </a:r>
          </a:p>
          <a:p>
            <a:endParaRPr lang="es-ES" sz="3600" dirty="0"/>
          </a:p>
        </p:txBody>
      </p:sp>
    </p:spTree>
    <p:extLst>
      <p:ext uri="{BB962C8B-B14F-4D97-AF65-F5344CB8AC3E}">
        <p14:creationId xmlns:p14="http://schemas.microsoft.com/office/powerpoint/2010/main" val="32458893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4A2433-4A4E-4FB8-8A92-4CD804717776}"/>
              </a:ext>
            </a:extLst>
          </p:cNvPr>
          <p:cNvSpPr>
            <a:spLocks noGrp="1"/>
          </p:cNvSpPr>
          <p:nvPr>
            <p:ph type="title"/>
          </p:nvPr>
        </p:nvSpPr>
        <p:spPr/>
        <p:txBody>
          <a:bodyPr/>
          <a:lstStyle/>
          <a:p>
            <a:r>
              <a:rPr lang="es-ES" dirty="0"/>
              <a:t>Manejo de tableros</a:t>
            </a:r>
          </a:p>
        </p:txBody>
      </p:sp>
      <p:sp>
        <p:nvSpPr>
          <p:cNvPr id="3" name="Marcador de contenido 2">
            <a:extLst>
              <a:ext uri="{FF2B5EF4-FFF2-40B4-BE49-F238E27FC236}">
                <a16:creationId xmlns:a16="http://schemas.microsoft.com/office/drawing/2014/main" id="{6FC78BFF-61B9-4F9D-8710-A37EA9DF9ACB}"/>
              </a:ext>
            </a:extLst>
          </p:cNvPr>
          <p:cNvSpPr>
            <a:spLocks noGrp="1"/>
          </p:cNvSpPr>
          <p:nvPr>
            <p:ph idx="1"/>
          </p:nvPr>
        </p:nvSpPr>
        <p:spPr/>
        <p:txBody>
          <a:bodyPr/>
          <a:lstStyle/>
          <a:p>
            <a:r>
              <a:rPr lang="es-ES" dirty="0"/>
              <a:t>Un tablero es una vista formada por una agrupación de otras vistas más simples.</a:t>
            </a:r>
          </a:p>
          <a:p>
            <a:r>
              <a:rPr lang="es-ES" dirty="0"/>
              <a:t>Agrupa en una sola pantalla toda la información sobre un usuario en particular.</a:t>
            </a:r>
          </a:p>
          <a:p>
            <a:r>
              <a:rPr lang="es-ES" dirty="0"/>
              <a:t>En </a:t>
            </a:r>
            <a:r>
              <a:rPr lang="es-ES" dirty="0" err="1"/>
              <a:t>Odoo</a:t>
            </a:r>
            <a:r>
              <a:rPr lang="es-ES" dirty="0"/>
              <a:t> ya vienen creados varios tableros.</a:t>
            </a:r>
          </a:p>
          <a:p>
            <a:r>
              <a:rPr lang="es-ES" dirty="0"/>
              <a:t>Se pueden modificar y crear otros nuevos.</a:t>
            </a:r>
          </a:p>
          <a:p>
            <a:r>
              <a:rPr lang="es-ES" sz="1800" i="1" u="sng" dirty="0">
                <a:solidFill>
                  <a:srgbClr val="000080"/>
                </a:solidFill>
                <a:effectLst/>
                <a:latin typeface="Roboto" panose="02000000000000000000" pitchFamily="2" charset="0"/>
                <a:ea typeface="Roboto" panose="02000000000000000000" pitchFamily="2" charset="0"/>
                <a:cs typeface="Roboto" panose="02000000000000000000" pitchFamily="2" charset="0"/>
                <a:hlinkClick r:id="rId2"/>
              </a:rPr>
              <a:t>Vídeo: Manejo de tableros</a:t>
            </a:r>
            <a:endParaRPr lang="es-ES" dirty="0"/>
          </a:p>
        </p:txBody>
      </p:sp>
    </p:spTree>
    <p:extLst>
      <p:ext uri="{BB962C8B-B14F-4D97-AF65-F5344CB8AC3E}">
        <p14:creationId xmlns:p14="http://schemas.microsoft.com/office/powerpoint/2010/main" val="23907422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CAE204-AD7D-41BC-AB1D-9368A301DA68}"/>
              </a:ext>
            </a:extLst>
          </p:cNvPr>
          <p:cNvSpPr>
            <a:spLocks noGrp="1"/>
          </p:cNvSpPr>
          <p:nvPr>
            <p:ph type="title"/>
          </p:nvPr>
        </p:nvSpPr>
        <p:spPr/>
        <p:txBody>
          <a:bodyPr/>
          <a:lstStyle/>
          <a:p>
            <a:r>
              <a:rPr lang="es-ES" dirty="0"/>
              <a:t>EJERCICIO</a:t>
            </a:r>
          </a:p>
        </p:txBody>
      </p:sp>
      <p:sp>
        <p:nvSpPr>
          <p:cNvPr id="3" name="Marcador de contenido 2">
            <a:extLst>
              <a:ext uri="{FF2B5EF4-FFF2-40B4-BE49-F238E27FC236}">
                <a16:creationId xmlns:a16="http://schemas.microsoft.com/office/drawing/2014/main" id="{3F834910-4A56-46A9-83DA-8C55FA6BD4BE}"/>
              </a:ext>
            </a:extLst>
          </p:cNvPr>
          <p:cNvSpPr>
            <a:spLocks noGrp="1"/>
          </p:cNvSpPr>
          <p:nvPr>
            <p:ph idx="1"/>
          </p:nvPr>
        </p:nvSpPr>
        <p:spPr/>
        <p:txBody>
          <a:bodyPr>
            <a:normAutofit/>
          </a:bodyPr>
          <a:lstStyle/>
          <a:p>
            <a:r>
              <a:rPr lang="es-ES" sz="3200" dirty="0"/>
              <a:t>Crear un tablero donde aparezcan:</a:t>
            </a:r>
          </a:p>
          <a:p>
            <a:pPr lvl="1"/>
            <a:r>
              <a:rPr lang="es-ES" sz="2800" dirty="0"/>
              <a:t>Listado de pedidos de compra.</a:t>
            </a:r>
          </a:p>
          <a:p>
            <a:pPr lvl="1"/>
            <a:r>
              <a:rPr lang="es-ES" sz="2800" dirty="0"/>
              <a:t>Gráfico de pedidos de compra.</a:t>
            </a:r>
          </a:p>
          <a:p>
            <a:pPr lvl="1"/>
            <a:r>
              <a:rPr lang="es-ES" sz="2800" dirty="0"/>
              <a:t>Listado de pedidos de venta.</a:t>
            </a:r>
          </a:p>
          <a:p>
            <a:pPr lvl="1"/>
            <a:r>
              <a:rPr lang="es-ES" sz="2800" dirty="0"/>
              <a:t>Gráfico de pedidos de venta.</a:t>
            </a:r>
          </a:p>
        </p:txBody>
      </p:sp>
    </p:spTree>
    <p:extLst>
      <p:ext uri="{BB962C8B-B14F-4D97-AF65-F5344CB8AC3E}">
        <p14:creationId xmlns:p14="http://schemas.microsoft.com/office/powerpoint/2010/main" val="2375942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CAE204-AD7D-41BC-AB1D-9368A301DA68}"/>
              </a:ext>
            </a:extLst>
          </p:cNvPr>
          <p:cNvSpPr>
            <a:spLocks noGrp="1"/>
          </p:cNvSpPr>
          <p:nvPr>
            <p:ph type="title"/>
          </p:nvPr>
        </p:nvSpPr>
        <p:spPr>
          <a:xfrm>
            <a:off x="1141413" y="254533"/>
            <a:ext cx="9905998" cy="1478570"/>
          </a:xfrm>
        </p:spPr>
        <p:txBody>
          <a:bodyPr/>
          <a:lstStyle/>
          <a:p>
            <a:r>
              <a:rPr lang="es-ES" dirty="0"/>
              <a:t>Creación de informes</a:t>
            </a:r>
          </a:p>
        </p:txBody>
      </p:sp>
      <p:sp>
        <p:nvSpPr>
          <p:cNvPr id="3" name="Marcador de contenido 2">
            <a:extLst>
              <a:ext uri="{FF2B5EF4-FFF2-40B4-BE49-F238E27FC236}">
                <a16:creationId xmlns:a16="http://schemas.microsoft.com/office/drawing/2014/main" id="{3F834910-4A56-46A9-83DA-8C55FA6BD4BE}"/>
              </a:ext>
            </a:extLst>
          </p:cNvPr>
          <p:cNvSpPr>
            <a:spLocks noGrp="1"/>
          </p:cNvSpPr>
          <p:nvPr>
            <p:ph idx="1"/>
          </p:nvPr>
        </p:nvSpPr>
        <p:spPr>
          <a:xfrm>
            <a:off x="1141412" y="1500326"/>
            <a:ext cx="9905999" cy="4820575"/>
          </a:xfrm>
        </p:spPr>
        <p:txBody>
          <a:bodyPr>
            <a:normAutofit fontScale="92500"/>
          </a:bodyPr>
          <a:lstStyle/>
          <a:p>
            <a:pPr algn="just">
              <a:lnSpc>
                <a:spcPct val="115000"/>
              </a:lnSpc>
              <a:spcAft>
                <a:spcPts val="600"/>
              </a:spcAft>
            </a:pPr>
            <a:r>
              <a:rPr lang="es-ES" sz="3200" dirty="0" err="1"/>
              <a:t>Odoo</a:t>
            </a:r>
            <a:r>
              <a:rPr lang="es-ES" sz="3200" dirty="0"/>
              <a:t> dispone de varios informes ya creados y totalmente funcionales. </a:t>
            </a:r>
          </a:p>
          <a:p>
            <a:pPr algn="just">
              <a:lnSpc>
                <a:spcPct val="115000"/>
              </a:lnSpc>
              <a:spcAft>
                <a:spcPts val="600"/>
              </a:spcAft>
            </a:pPr>
            <a:r>
              <a:rPr lang="es-ES" sz="3200" dirty="0"/>
              <a:t>Por ejemplo, cuando desde el módulo de ventas generamos una factura para un cliente, el PDF que se crea es un informe que contiene la información sobre dicha factura presente en la base de datos.</a:t>
            </a:r>
          </a:p>
          <a:p>
            <a:pPr algn="just">
              <a:lnSpc>
                <a:spcPct val="115000"/>
              </a:lnSpc>
              <a:spcAft>
                <a:spcPts val="600"/>
              </a:spcAft>
            </a:pPr>
            <a:r>
              <a:rPr lang="es-ES" sz="3200" dirty="0" err="1"/>
              <a:t>Odoo</a:t>
            </a:r>
            <a:r>
              <a:rPr lang="es-ES" sz="3200" dirty="0"/>
              <a:t> nos permite modificar los informes ya incrustados en el sistema, así como crear nuevos informes.</a:t>
            </a:r>
          </a:p>
          <a:p>
            <a:pPr lvl="1"/>
            <a:endParaRPr lang="es-ES" sz="2800" dirty="0"/>
          </a:p>
        </p:txBody>
      </p:sp>
    </p:spTree>
    <p:extLst>
      <p:ext uri="{BB962C8B-B14F-4D97-AF65-F5344CB8AC3E}">
        <p14:creationId xmlns:p14="http://schemas.microsoft.com/office/powerpoint/2010/main" val="242205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CAE204-AD7D-41BC-AB1D-9368A301DA68}"/>
              </a:ext>
            </a:extLst>
          </p:cNvPr>
          <p:cNvSpPr>
            <a:spLocks noGrp="1"/>
          </p:cNvSpPr>
          <p:nvPr>
            <p:ph type="title"/>
          </p:nvPr>
        </p:nvSpPr>
        <p:spPr>
          <a:xfrm>
            <a:off x="1141413" y="254533"/>
            <a:ext cx="9905998" cy="1478570"/>
          </a:xfrm>
        </p:spPr>
        <p:txBody>
          <a:bodyPr/>
          <a:lstStyle/>
          <a:p>
            <a:r>
              <a:rPr lang="es-ES" dirty="0"/>
              <a:t>Creación de informes</a:t>
            </a:r>
          </a:p>
        </p:txBody>
      </p:sp>
      <p:sp>
        <p:nvSpPr>
          <p:cNvPr id="3" name="Marcador de contenido 2">
            <a:extLst>
              <a:ext uri="{FF2B5EF4-FFF2-40B4-BE49-F238E27FC236}">
                <a16:creationId xmlns:a16="http://schemas.microsoft.com/office/drawing/2014/main" id="{3F834910-4A56-46A9-83DA-8C55FA6BD4BE}"/>
              </a:ext>
            </a:extLst>
          </p:cNvPr>
          <p:cNvSpPr>
            <a:spLocks noGrp="1"/>
          </p:cNvSpPr>
          <p:nvPr>
            <p:ph idx="1"/>
          </p:nvPr>
        </p:nvSpPr>
        <p:spPr>
          <a:xfrm>
            <a:off x="1141412" y="1500326"/>
            <a:ext cx="9905999" cy="4820575"/>
          </a:xfrm>
        </p:spPr>
        <p:txBody>
          <a:bodyPr>
            <a:normAutofit/>
          </a:bodyPr>
          <a:lstStyle/>
          <a:p>
            <a:pPr algn="just">
              <a:lnSpc>
                <a:spcPct val="115000"/>
              </a:lnSpc>
              <a:spcAft>
                <a:spcPts val="600"/>
              </a:spcAft>
            </a:pPr>
            <a:r>
              <a:rPr lang="es-ES" i="1" u="sng" dirty="0">
                <a:hlinkClick r:id="rId2"/>
              </a:rPr>
              <a:t>https://www.youtube.com/watch?v=Cit8LH27h1Q</a:t>
            </a:r>
            <a:endParaRPr lang="es-ES" i="1" u="sng" dirty="0"/>
          </a:p>
          <a:p>
            <a:r>
              <a:rPr lang="es-ES" dirty="0"/>
              <a:t>Ajustes/</a:t>
            </a:r>
            <a:r>
              <a:rPr lang="es-ES" dirty="0" err="1"/>
              <a:t>Tecnico</a:t>
            </a:r>
            <a:r>
              <a:rPr lang="es-ES" dirty="0"/>
              <a:t>/Informes/”Presupuesto/Pedido”</a:t>
            </a:r>
          </a:p>
          <a:p>
            <a:pPr lvl="0"/>
            <a:r>
              <a:rPr lang="es-ES" dirty="0"/>
              <a:t>Nos fijamos en el nombre de la plantilla (</a:t>
            </a:r>
            <a:r>
              <a:rPr lang="es-ES" dirty="0" err="1"/>
              <a:t>sale.report_saleorder</a:t>
            </a:r>
            <a:r>
              <a:rPr lang="es-ES" dirty="0"/>
              <a:t>) , la cual nos indica la plantilla base, un informe puede estar hechos de </a:t>
            </a:r>
            <a:r>
              <a:rPr lang="es-ES" dirty="0" err="1"/>
              <a:t>subinformes</a:t>
            </a:r>
            <a:endParaRPr lang="es-ES" dirty="0"/>
          </a:p>
          <a:p>
            <a:pPr lvl="0"/>
            <a:r>
              <a:rPr lang="es-ES" dirty="0"/>
              <a:t>Para editar: Vistas </a:t>
            </a:r>
            <a:r>
              <a:rPr lang="es-ES" dirty="0" err="1"/>
              <a:t>QWeb</a:t>
            </a:r>
            <a:endParaRPr lang="es-ES" dirty="0"/>
          </a:p>
          <a:p>
            <a:pPr lvl="0"/>
            <a:r>
              <a:rPr lang="es-ES" dirty="0"/>
              <a:t>En t-</a:t>
            </a:r>
            <a:r>
              <a:rPr lang="es-ES" dirty="0" err="1"/>
              <a:t>call</a:t>
            </a:r>
            <a:r>
              <a:rPr lang="es-ES" dirty="0"/>
              <a:t> nos indica a que informe llama: (</a:t>
            </a:r>
            <a:r>
              <a:rPr lang="es-ES" dirty="0" err="1"/>
              <a:t>sale.report_saleorder_document</a:t>
            </a:r>
            <a:r>
              <a:rPr lang="es-ES" dirty="0"/>
              <a:t>), este es el que hay que modificar, lo editamos</a:t>
            </a:r>
          </a:p>
          <a:p>
            <a:pPr lvl="0"/>
            <a:r>
              <a:rPr lang="es-ES" dirty="0"/>
              <a:t>Para quitar comercial: buscamos el </a:t>
            </a:r>
            <a:r>
              <a:rPr lang="es-ES" dirty="0" err="1"/>
              <a:t>div</a:t>
            </a:r>
            <a:r>
              <a:rPr lang="es-ES" dirty="0"/>
              <a:t> de </a:t>
            </a:r>
            <a:r>
              <a:rPr lang="es-ES" dirty="0" err="1"/>
              <a:t>salesperson</a:t>
            </a:r>
            <a:r>
              <a:rPr lang="es-ES" dirty="0"/>
              <a:t> y lo borramos</a:t>
            </a:r>
          </a:p>
          <a:p>
            <a:pPr lvl="0"/>
            <a:r>
              <a:rPr lang="es-ES" dirty="0"/>
              <a:t>Si queremos que no se vea como </a:t>
            </a:r>
            <a:r>
              <a:rPr lang="es-ES" dirty="0" err="1"/>
              <a:t>pdf</a:t>
            </a:r>
            <a:r>
              <a:rPr lang="es-ES" dirty="0"/>
              <a:t> y si como web</a:t>
            </a:r>
          </a:p>
          <a:p>
            <a:pPr lvl="1"/>
            <a:r>
              <a:rPr lang="es-ES" dirty="0"/>
              <a:t>Ajustes/</a:t>
            </a:r>
            <a:r>
              <a:rPr lang="es-ES" dirty="0" err="1"/>
              <a:t>Tecnico</a:t>
            </a:r>
            <a:r>
              <a:rPr lang="es-ES" dirty="0"/>
              <a:t>/Informes/”Presupuesto/Pedido”/Editar/Tipo informe= HTML</a:t>
            </a:r>
          </a:p>
          <a:p>
            <a:pPr algn="just">
              <a:lnSpc>
                <a:spcPct val="115000"/>
              </a:lnSpc>
              <a:spcAft>
                <a:spcPts val="600"/>
              </a:spcAft>
            </a:pPr>
            <a:endParaRPr lang="es-ES" sz="2800" dirty="0"/>
          </a:p>
        </p:txBody>
      </p:sp>
    </p:spTree>
    <p:extLst>
      <p:ext uri="{BB962C8B-B14F-4D97-AF65-F5344CB8AC3E}">
        <p14:creationId xmlns:p14="http://schemas.microsoft.com/office/powerpoint/2010/main" val="478894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9B18A1-136E-40AA-850B-D6662482BB18}"/>
              </a:ext>
            </a:extLst>
          </p:cNvPr>
          <p:cNvSpPr>
            <a:spLocks noGrp="1"/>
          </p:cNvSpPr>
          <p:nvPr>
            <p:ph type="title"/>
          </p:nvPr>
        </p:nvSpPr>
        <p:spPr/>
        <p:txBody>
          <a:bodyPr/>
          <a:lstStyle/>
          <a:p>
            <a:r>
              <a:rPr lang="es-ES" dirty="0"/>
              <a:t>ejercicios</a:t>
            </a:r>
          </a:p>
        </p:txBody>
      </p:sp>
      <p:sp>
        <p:nvSpPr>
          <p:cNvPr id="3" name="Marcador de contenido 2">
            <a:extLst>
              <a:ext uri="{FF2B5EF4-FFF2-40B4-BE49-F238E27FC236}">
                <a16:creationId xmlns:a16="http://schemas.microsoft.com/office/drawing/2014/main" id="{3B735011-0324-42FA-B2F2-47194488C405}"/>
              </a:ext>
            </a:extLst>
          </p:cNvPr>
          <p:cNvSpPr>
            <a:spLocks noGrp="1"/>
          </p:cNvSpPr>
          <p:nvPr>
            <p:ph idx="1"/>
          </p:nvPr>
        </p:nvSpPr>
        <p:spPr/>
        <p:txBody>
          <a:bodyPr>
            <a:normAutofit/>
          </a:bodyPr>
          <a:lstStyle/>
          <a:p>
            <a:pPr>
              <a:lnSpc>
                <a:spcPct val="115000"/>
              </a:lnSpc>
              <a:spcAft>
                <a:spcPts val="1000"/>
              </a:spcAft>
            </a:pPr>
            <a:r>
              <a:rPr lang="es-ES" sz="3200" dirty="0">
                <a:effectLst/>
                <a:latin typeface="Calibri" panose="020F0502020204030204" pitchFamily="34" charset="0"/>
                <a:ea typeface="Calibri" panose="020F0502020204030204" pitchFamily="34" charset="0"/>
              </a:rPr>
              <a:t>Quita del informe pedidos de cliente:</a:t>
            </a:r>
          </a:p>
          <a:p>
            <a:pPr marL="800100" lvl="1" indent="-342900">
              <a:lnSpc>
                <a:spcPct val="115000"/>
              </a:lnSpc>
              <a:spcAft>
                <a:spcPts val="1000"/>
              </a:spcAft>
              <a:buFont typeface="Arial" panose="020B0604020202020204" pitchFamily="34" charset="0"/>
              <a:buChar char="●"/>
            </a:pPr>
            <a:r>
              <a:rPr lang="es-ES" sz="1800" u="none" strike="noStrike" dirty="0">
                <a:effectLst/>
                <a:latin typeface="Calibri" panose="020F0502020204030204" pitchFamily="34" charset="0"/>
                <a:ea typeface="Calibri" panose="020F0502020204030204" pitchFamily="34" charset="0"/>
              </a:rPr>
              <a:t>Impuestos de la línea de pedidos</a:t>
            </a:r>
          </a:p>
          <a:p>
            <a:pPr marL="800100" lvl="1" indent="-342900">
              <a:lnSpc>
                <a:spcPct val="115000"/>
              </a:lnSpc>
              <a:spcAft>
                <a:spcPts val="1000"/>
              </a:spcAft>
              <a:buFont typeface="Arial" panose="020B0604020202020204" pitchFamily="34" charset="0"/>
              <a:buChar char="●"/>
            </a:pPr>
            <a:r>
              <a:rPr lang="es-ES" sz="1800" u="none" strike="noStrike" dirty="0">
                <a:effectLst/>
                <a:latin typeface="Calibri" panose="020F0502020204030204" pitchFamily="34" charset="0"/>
                <a:ea typeface="Calibri" panose="020F0502020204030204" pitchFamily="34" charset="0"/>
              </a:rPr>
              <a:t>Comercial</a:t>
            </a:r>
          </a:p>
          <a:p>
            <a:pPr marL="800100" lvl="1" indent="-342900">
              <a:lnSpc>
                <a:spcPct val="115000"/>
              </a:lnSpc>
              <a:spcAft>
                <a:spcPts val="1000"/>
              </a:spcAft>
              <a:buFont typeface="Arial" panose="020B0604020202020204" pitchFamily="34" charset="0"/>
              <a:buChar char="●"/>
            </a:pPr>
            <a:r>
              <a:rPr lang="es-ES" sz="1800" u="none" strike="noStrike" dirty="0">
                <a:effectLst/>
                <a:latin typeface="Calibri" panose="020F0502020204030204" pitchFamily="34" charset="0"/>
                <a:ea typeface="Calibri" panose="020F0502020204030204" pitchFamily="34" charset="0"/>
              </a:rPr>
              <a:t>Total sin impuestos</a:t>
            </a:r>
          </a:p>
          <a:p>
            <a:pPr marL="0" indent="0">
              <a:buNone/>
            </a:pPr>
            <a:endParaRPr lang="es-ES" sz="3200" dirty="0"/>
          </a:p>
        </p:txBody>
      </p:sp>
    </p:spTree>
    <p:extLst>
      <p:ext uri="{BB962C8B-B14F-4D97-AF65-F5344CB8AC3E}">
        <p14:creationId xmlns:p14="http://schemas.microsoft.com/office/powerpoint/2010/main" val="1476735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CAE204-AD7D-41BC-AB1D-9368A301DA68}"/>
              </a:ext>
            </a:extLst>
          </p:cNvPr>
          <p:cNvSpPr>
            <a:spLocks noGrp="1"/>
          </p:cNvSpPr>
          <p:nvPr>
            <p:ph type="title"/>
          </p:nvPr>
        </p:nvSpPr>
        <p:spPr>
          <a:xfrm>
            <a:off x="1141413" y="254533"/>
            <a:ext cx="9905998" cy="1478570"/>
          </a:xfrm>
        </p:spPr>
        <p:txBody>
          <a:bodyPr/>
          <a:lstStyle/>
          <a:p>
            <a:r>
              <a:rPr lang="es-ES" dirty="0"/>
              <a:t>Creación de informes</a:t>
            </a:r>
          </a:p>
        </p:txBody>
      </p:sp>
      <p:sp>
        <p:nvSpPr>
          <p:cNvPr id="3" name="Marcador de contenido 2">
            <a:extLst>
              <a:ext uri="{FF2B5EF4-FFF2-40B4-BE49-F238E27FC236}">
                <a16:creationId xmlns:a16="http://schemas.microsoft.com/office/drawing/2014/main" id="{3F834910-4A56-46A9-83DA-8C55FA6BD4BE}"/>
              </a:ext>
            </a:extLst>
          </p:cNvPr>
          <p:cNvSpPr>
            <a:spLocks noGrp="1"/>
          </p:cNvSpPr>
          <p:nvPr>
            <p:ph idx="1"/>
          </p:nvPr>
        </p:nvSpPr>
        <p:spPr>
          <a:xfrm>
            <a:off x="1141412" y="1500326"/>
            <a:ext cx="9905999" cy="4820575"/>
          </a:xfrm>
        </p:spPr>
        <p:txBody>
          <a:bodyPr>
            <a:normAutofit/>
          </a:bodyPr>
          <a:lstStyle/>
          <a:p>
            <a:pPr algn="just">
              <a:lnSpc>
                <a:spcPct val="115000"/>
              </a:lnSpc>
              <a:spcAft>
                <a:spcPts val="600"/>
              </a:spcAft>
            </a:pPr>
            <a:r>
              <a:rPr lang="es-ES" sz="3200" dirty="0"/>
              <a:t>Ejercicio:</a:t>
            </a:r>
          </a:p>
          <a:p>
            <a:pPr lvl="1" algn="just">
              <a:lnSpc>
                <a:spcPct val="115000"/>
              </a:lnSpc>
              <a:spcAft>
                <a:spcPts val="600"/>
              </a:spcAft>
            </a:pPr>
            <a:r>
              <a:rPr lang="es-ES" sz="2800" dirty="0"/>
              <a:t>Sigue los pasos indicados en el vídeo para crear un informe desde cero:</a:t>
            </a:r>
          </a:p>
          <a:p>
            <a:pPr algn="just">
              <a:lnSpc>
                <a:spcPct val="115000"/>
              </a:lnSpc>
              <a:spcAft>
                <a:spcPts val="600"/>
              </a:spcAft>
            </a:pPr>
            <a:r>
              <a:rPr lang="es-ES" sz="3200" i="1" u="sng" dirty="0">
                <a:hlinkClick r:id="rId2"/>
              </a:rPr>
              <a:t>https://www.youtube.com/watch?v=Cit8LH27h1Q</a:t>
            </a:r>
            <a:endParaRPr lang="es-ES" sz="3200" dirty="0"/>
          </a:p>
          <a:p>
            <a:pPr algn="just">
              <a:lnSpc>
                <a:spcPct val="115000"/>
              </a:lnSpc>
              <a:spcAft>
                <a:spcPts val="600"/>
              </a:spcAft>
            </a:pPr>
            <a:endParaRPr lang="es-ES" sz="3600" dirty="0"/>
          </a:p>
        </p:txBody>
      </p:sp>
    </p:spTree>
    <p:extLst>
      <p:ext uri="{BB962C8B-B14F-4D97-AF65-F5344CB8AC3E}">
        <p14:creationId xmlns:p14="http://schemas.microsoft.com/office/powerpoint/2010/main" val="42688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CAE204-AD7D-41BC-AB1D-9368A301DA68}"/>
              </a:ext>
            </a:extLst>
          </p:cNvPr>
          <p:cNvSpPr>
            <a:spLocks noGrp="1"/>
          </p:cNvSpPr>
          <p:nvPr>
            <p:ph type="title"/>
          </p:nvPr>
        </p:nvSpPr>
        <p:spPr>
          <a:xfrm>
            <a:off x="1141413" y="254533"/>
            <a:ext cx="9905998" cy="1478570"/>
          </a:xfrm>
        </p:spPr>
        <p:txBody>
          <a:bodyPr/>
          <a:lstStyle/>
          <a:p>
            <a:r>
              <a:rPr lang="es-ES" dirty="0"/>
              <a:t>Heredar vistas</a:t>
            </a:r>
          </a:p>
        </p:txBody>
      </p:sp>
      <p:sp>
        <p:nvSpPr>
          <p:cNvPr id="3" name="Marcador de contenido 2">
            <a:extLst>
              <a:ext uri="{FF2B5EF4-FFF2-40B4-BE49-F238E27FC236}">
                <a16:creationId xmlns:a16="http://schemas.microsoft.com/office/drawing/2014/main" id="{3F834910-4A56-46A9-83DA-8C55FA6BD4BE}"/>
              </a:ext>
            </a:extLst>
          </p:cNvPr>
          <p:cNvSpPr>
            <a:spLocks noGrp="1"/>
          </p:cNvSpPr>
          <p:nvPr>
            <p:ph idx="1"/>
          </p:nvPr>
        </p:nvSpPr>
        <p:spPr>
          <a:xfrm>
            <a:off x="1141412" y="1500326"/>
            <a:ext cx="9905999" cy="4820575"/>
          </a:xfrm>
        </p:spPr>
        <p:txBody>
          <a:bodyPr>
            <a:normAutofit/>
          </a:bodyPr>
          <a:lstStyle/>
          <a:p>
            <a:pPr algn="just">
              <a:lnSpc>
                <a:spcPct val="115000"/>
              </a:lnSpc>
              <a:spcAft>
                <a:spcPts val="600"/>
              </a:spcAft>
            </a:pPr>
            <a:r>
              <a:rPr lang="es-ES" sz="3600" i="1" u="sng" dirty="0">
                <a:hlinkClick r:id="rId2"/>
              </a:rPr>
              <a:t>https://www.youtube.com/watch?v=lGitgI1bkOE</a:t>
            </a:r>
            <a:endParaRPr lang="es-ES" sz="4800" dirty="0"/>
          </a:p>
        </p:txBody>
      </p:sp>
    </p:spTree>
    <p:extLst>
      <p:ext uri="{BB962C8B-B14F-4D97-AF65-F5344CB8AC3E}">
        <p14:creationId xmlns:p14="http://schemas.microsoft.com/office/powerpoint/2010/main" val="779305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izarra">
  <a:themeElements>
    <a:clrScheme name="Escala de grise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Pizarra">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izarra">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3EF818-EDF6-480C-9B86-0A3B979BCCF0}">
  <ds:schemaRefs>
    <ds:schemaRef ds:uri="http://schemas.microsoft.com/sharepoint/v3/contenttype/forms"/>
  </ds:schemaRefs>
</ds:datastoreItem>
</file>

<file path=customXml/itemProps2.xml><?xml version="1.0" encoding="utf-8"?>
<ds:datastoreItem xmlns:ds="http://schemas.openxmlformats.org/officeDocument/2006/customXml" ds:itemID="{B518BD99-41E9-467C-9777-74587F831718}">
  <ds:schemaRef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71af3243-3dd4-4a8d-8c0d-dd76da1f02a5"/>
    <ds:schemaRef ds:uri="http://www.w3.org/XML/1998/namespace"/>
  </ds:schemaRefs>
</ds:datastoreItem>
</file>

<file path=customXml/itemProps3.xml><?xml version="1.0" encoding="utf-8"?>
<ds:datastoreItem xmlns:ds="http://schemas.openxmlformats.org/officeDocument/2006/customXml" ds:itemID="{4C8C32A8-E4D9-473C-833A-8950C6E7C0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Pizarra</Template>
  <TotalTime>17076</TotalTime>
  <Words>1675</Words>
  <Application>Microsoft Office PowerPoint</Application>
  <PresentationFormat>Panorámica</PresentationFormat>
  <Paragraphs>166</Paragraphs>
  <Slides>34</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34</vt:i4>
      </vt:variant>
    </vt:vector>
  </HeadingPairs>
  <TitlesOfParts>
    <vt:vector size="41" baseType="lpstr">
      <vt:lpstr>Arial</vt:lpstr>
      <vt:lpstr>Calibri</vt:lpstr>
      <vt:lpstr>Calisto MT</vt:lpstr>
      <vt:lpstr>Roboto</vt:lpstr>
      <vt:lpstr>Wingdings</vt:lpstr>
      <vt:lpstr>Wingdings 2</vt:lpstr>
      <vt:lpstr>Pizarra</vt:lpstr>
      <vt:lpstr>Unidad 3 Modelos </vt:lpstr>
      <vt:lpstr>Modelo de objetos en odoo</vt:lpstr>
      <vt:lpstr>Modelo de objetos en odoo</vt:lpstr>
      <vt:lpstr>Control de acceso</vt:lpstr>
      <vt:lpstr>EJERCICIO</vt:lpstr>
      <vt:lpstr>MODIFICACIÓN DE MENÚS</vt:lpstr>
      <vt:lpstr>EJERCICIO MENÚS</vt:lpstr>
      <vt:lpstr>Creación y modificación de los objetos del sistema</vt:lpstr>
      <vt:lpstr>Manejo de las vistas</vt:lpstr>
      <vt:lpstr>Manejo de las vistas</vt:lpstr>
      <vt:lpstr>Presentación de PowerPoint</vt:lpstr>
      <vt:lpstr>Manejo de las vistas</vt:lpstr>
      <vt:lpstr>Tipos de vistas</vt:lpstr>
      <vt:lpstr>Tipos de vistas</vt:lpstr>
      <vt:lpstr>Tipos de vistas</vt:lpstr>
      <vt:lpstr>Manejo de las vistas</vt:lpstr>
      <vt:lpstr>Manejo de las vistas</vt:lpstr>
      <vt:lpstr>Manejo de las vistas</vt:lpstr>
      <vt:lpstr>Crear un nuevo objeto en odoo</vt:lpstr>
      <vt:lpstr>Crear un nuevo objeto en odoo</vt:lpstr>
      <vt:lpstr>Crear un nuevo objeto en odoo</vt:lpstr>
      <vt:lpstr>Crear un nuevo objeto en odoo</vt:lpstr>
      <vt:lpstr>Crear un nuevo objeto en odoo</vt:lpstr>
      <vt:lpstr>ejercicios</vt:lpstr>
      <vt:lpstr>Crear relaciones</vt:lpstr>
      <vt:lpstr>Crear relaciones</vt:lpstr>
      <vt:lpstr>ejercicio</vt:lpstr>
      <vt:lpstr>Manejo de tableros</vt:lpstr>
      <vt:lpstr>EJERCICIO</vt:lpstr>
      <vt:lpstr>Creación de informes</vt:lpstr>
      <vt:lpstr>Creación de informes</vt:lpstr>
      <vt:lpstr>ejercicios</vt:lpstr>
      <vt:lpstr>Creación de informes</vt:lpstr>
      <vt:lpstr>Heredar vistas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IV Implantación DE sistemas ERP</dc:title>
  <dc:creator>Alberto Hernica Valencia</dc:creator>
  <cp:lastModifiedBy>MªIsabel Prados</cp:lastModifiedBy>
  <cp:revision>61</cp:revision>
  <dcterms:created xsi:type="dcterms:W3CDTF">2021-11-20T15:35:11Z</dcterms:created>
  <dcterms:modified xsi:type="dcterms:W3CDTF">2024-11-26T10:01:56Z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